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1" r:id="rId4"/>
  </p:sldMasterIdLst>
  <p:notesMasterIdLst>
    <p:notesMasterId r:id="rId19"/>
  </p:notesMasterIdLst>
  <p:handoutMasterIdLst>
    <p:handoutMasterId r:id="rId20"/>
  </p:handoutMasterIdLst>
  <p:sldIdLst>
    <p:sldId id="292" r:id="rId5"/>
    <p:sldId id="275" r:id="rId6"/>
    <p:sldId id="276" r:id="rId7"/>
    <p:sldId id="300" r:id="rId8"/>
    <p:sldId id="293" r:id="rId9"/>
    <p:sldId id="299" r:id="rId10"/>
    <p:sldId id="298" r:id="rId11"/>
    <p:sldId id="284" r:id="rId12"/>
    <p:sldId id="279" r:id="rId13"/>
    <p:sldId id="296" r:id="rId14"/>
    <p:sldId id="303" r:id="rId15"/>
    <p:sldId id="302" r:id="rId16"/>
    <p:sldId id="301" r:id="rId17"/>
    <p:sldId id="289"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6992"/>
    <a:srgbClr val="AEC2D8"/>
    <a:srgbClr val="98432A"/>
    <a:srgbClr val="D84400"/>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F2E517-288A-48C1-82E1-4ED87A533E16}" v="2557" dt="2024-03-31T18:14:34.604"/>
    <p1510:client id="{0D418B66-D613-48B0-B60B-7415A0C5F709}" v="25" dt="2024-03-31T14:54:45.452"/>
    <p1510:client id="{142DC633-5180-4F0B-BE58-1D97D09CCBDD}" v="17" dt="2024-03-31T18:08:18.725"/>
    <p1510:client id="{1F0B2FE3-DDF3-672E-1FC1-FFB58547E4A6}" v="251" dt="2024-03-31T00:29:26.419"/>
    <p1510:client id="{5F6056A7-4D8E-4451-BC74-890423356AC3}" v="33" dt="2024-03-31T16:56:51.887"/>
    <p1510:client id="{68B844FC-A62D-413D-A9D3-5068BAB0312E}" v="1090" dt="2024-03-31T17:34:46.653"/>
    <p1510:client id="{8FC1E167-A27C-4E69-9810-CB35F5491A42}" v="1100" dt="2024-03-31T18:09:21.596"/>
    <p1510:client id="{91B014B4-15F1-4DB5-BB28-E03EA6162C79}" v="2140" dt="2024-03-31T17:11:19.605"/>
    <p1510:client id="{A8AF32ED-F4D7-4D47-B857-3A7E22E3AF61}" v="53" dt="2024-03-31T18:03:01.314"/>
    <p1510:client id="{B8AB77C6-4BB8-467B-9BA5-683FA9E91362}" v="9" dt="2024-03-31T04:09:10.247"/>
    <p1510:client id="{BAB06360-870E-45C3-A6E3-19E847D2E845}" v="720" dt="2024-03-31T17:43:12.292"/>
    <p1510:client id="{C717FA40-CF71-48BB-8B13-A2337ACE2CA1}" v="7" dt="2024-03-31T16:45:14.855"/>
    <p1510:client id="{D01F0165-F7F5-4F1A-8AEA-67E36A23D817}" v="36" dt="2024-03-31T17:34:14.629"/>
    <p1510:client id="{F021B1C8-1E86-4065-AB3B-911C35E1865A}" v="70" dt="2024-03-31T18:03:47.037"/>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536"/>
        <p:guide pos="312"/>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4/4/2024</a:t>
            </a:fld>
            <a:endParaRPr lang="en-US"/>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4/4/2024</a:t>
            </a:fld>
            <a:endParaRPr lang="en-US"/>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Hello, we are </a:t>
            </a:r>
            <a:r>
              <a:rPr lang="en-US" err="1"/>
              <a:t>EduConnect</a:t>
            </a:r>
            <a:r>
              <a:rPr lang="en-US"/>
              <a:t> and our names are …..</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We will be going over the background of our solution, followed by how our solution works overall, how we plan to implement our business model, the ethical considerations we took when developing our solution, and finally our demo and future plan with </a:t>
            </a:r>
            <a:r>
              <a:rPr lang="en-US" err="1"/>
              <a:t>EduConnect</a:t>
            </a:r>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a:t>
            </a:fld>
            <a:endParaRPr lang="en-US" altLang="zh-CN" noProof="0"/>
          </a:p>
        </p:txBody>
      </p:sp>
    </p:spTree>
    <p:extLst>
      <p:ext uri="{BB962C8B-B14F-4D97-AF65-F5344CB8AC3E}">
        <p14:creationId xmlns:p14="http://schemas.microsoft.com/office/powerpoint/2010/main" val="1102410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pPr marL="171450" indent="-171450">
              <a:buFont typeface="Arial"/>
              <a:buChar char="•"/>
            </a:pPr>
            <a:r>
              <a:rPr lang="en-US" b="1"/>
              <a:t>Feeling Unprepared:</a:t>
            </a:r>
            <a:r>
              <a:rPr lang="en-US"/>
              <a:t> Students often enter advisor appointments without a clear sense of their goals or a good understanding of their options.</a:t>
            </a:r>
          </a:p>
          <a:p>
            <a:pPr marL="171450" indent="-171450">
              <a:buFont typeface="Arial"/>
              <a:buChar char="•"/>
            </a:pPr>
            <a:r>
              <a:rPr lang="en-US" b="1"/>
              <a:t>Difficulty Articulating Needs:</a:t>
            </a:r>
            <a:r>
              <a:rPr lang="en-US"/>
              <a:t> Even with goals, students might struggle to explain their preferences for professors or courses that cater to their learning style.</a:t>
            </a:r>
            <a:endParaRPr lang="en-US">
              <a:ea typeface="等线"/>
            </a:endParaRPr>
          </a:p>
          <a:p>
            <a:endParaRPr lang="en-US">
              <a:ea typeface="等线"/>
            </a:endParaRPr>
          </a:p>
          <a:p>
            <a:r>
              <a:rPr lang="en-US"/>
              <a:t>Advisor sessions have time constraints, and discussions often focus on logistics (course availability, fulfilling requirements) rather than optimal learning matches.</a:t>
            </a:r>
            <a:endParaRPr lang="en-US">
              <a:ea typeface="等线"/>
            </a:endParaRPr>
          </a:p>
          <a:p>
            <a:endParaRPr lang="en-US">
              <a:ea typeface="等线"/>
            </a:endParaRP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a:t>
            </a:fld>
            <a:endParaRPr lang="en-US" altLang="zh-CN" noProof="0"/>
          </a:p>
        </p:txBody>
      </p:sp>
    </p:spTree>
    <p:extLst>
      <p:ext uri="{BB962C8B-B14F-4D97-AF65-F5344CB8AC3E}">
        <p14:creationId xmlns:p14="http://schemas.microsoft.com/office/powerpoint/2010/main" val="137746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1000"/>
              </a:spcAft>
            </a:pPr>
            <a:r>
              <a:rPr lang="en-US" b="1"/>
              <a:t>Reducing Uncertainty:</a:t>
            </a:r>
            <a:r>
              <a:rPr lang="en-US"/>
              <a:t> Helping students feel confident they'll have an optimal learning experience early in their college career</a:t>
            </a:r>
          </a:p>
          <a:p>
            <a:pPr>
              <a:spcAft>
                <a:spcPts val="1000"/>
              </a:spcAft>
            </a:pPr>
            <a:r>
              <a:rPr lang="en-US" b="1"/>
              <a:t>Improved Retention:</a:t>
            </a:r>
            <a:r>
              <a:rPr lang="en-US"/>
              <a:t> Students who feel supported and thrive in their learning environment might be more likely to persist through challenging courses and complete their degrees.</a:t>
            </a:r>
          </a:p>
          <a:p>
            <a:pPr>
              <a:spcAft>
                <a:spcPts val="1000"/>
              </a:spcAft>
            </a:pPr>
            <a:endParaRPr lang="en-US"/>
          </a:p>
          <a:p>
            <a:endParaRPr lang="en-US" b="1"/>
          </a:p>
          <a:p>
            <a:r>
              <a:rPr lang="en-US" b="1"/>
              <a:t>Narrowing the gap between college students with prior coaching and experience and relevant fields and those who may have received less support and exposure before university</a:t>
            </a:r>
            <a:endParaRPr lang="en-US">
              <a:ea typeface="等线"/>
            </a:endParaRPr>
          </a:p>
        </p:txBody>
      </p:sp>
      <p:sp>
        <p:nvSpPr>
          <p:cNvPr id="4" name="Slide Number Placeholder 3"/>
          <p:cNvSpPr>
            <a:spLocks noGrp="1"/>
          </p:cNvSpPr>
          <p:nvPr>
            <p:ph type="sldNum" sz="quarter" idx="5"/>
          </p:nvPr>
        </p:nvSpPr>
        <p:spPr/>
        <p:txBody>
          <a:bodyPr/>
          <a:lstStyle/>
          <a:p>
            <a:fld id="{D060679C-80C7-4E7D-9614-ABA41C5B2858}" type="slidenum">
              <a:rPr lang="en-US" smtClean="0"/>
              <a:t>4</a:t>
            </a:fld>
            <a:endParaRPr lang="en-US"/>
          </a:p>
        </p:txBody>
      </p:sp>
    </p:spTree>
    <p:extLst>
      <p:ext uri="{BB962C8B-B14F-4D97-AF65-F5344CB8AC3E}">
        <p14:creationId xmlns:p14="http://schemas.microsoft.com/office/powerpoint/2010/main" val="3180119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pPr marL="171450" indent="-171450">
              <a:buFont typeface="Arial"/>
              <a:buChar char="•"/>
            </a:pPr>
            <a:r>
              <a:rPr lang="en-US"/>
              <a:t>Students take a short survey to identify their learning style preferences.</a:t>
            </a:r>
          </a:p>
          <a:p>
            <a:pPr marL="171450" indent="-171450">
              <a:buFont typeface="Arial"/>
              <a:buChar char="•"/>
            </a:pPr>
            <a:r>
              <a:rPr lang="en-US"/>
              <a:t>Our system analyzes professor review data to understand teaching styles.</a:t>
            </a:r>
            <a:endParaRPr lang="en-US">
              <a:ea typeface="等线"/>
            </a:endParaRPr>
          </a:p>
          <a:p>
            <a:pPr marL="171450" indent="-171450">
              <a:buFont typeface="Arial"/>
              <a:buChar char="•"/>
            </a:pPr>
            <a:r>
              <a:rPr lang="en-US"/>
              <a:t>Students receive recommendations for professors whose styles align with their learning preferences.</a:t>
            </a:r>
            <a:endParaRPr lang="en-US">
              <a:ea typeface="等线"/>
            </a:endParaRPr>
          </a:p>
          <a:p>
            <a:endParaRPr lang="en-US">
              <a:ea typeface="等线"/>
            </a:endParaRP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a:p>
        </p:txBody>
      </p:sp>
    </p:spTree>
    <p:extLst>
      <p:ext uri="{BB962C8B-B14F-4D97-AF65-F5344CB8AC3E}">
        <p14:creationId xmlns:p14="http://schemas.microsoft.com/office/powerpoint/2010/main" val="2093800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our proof of concept on paper, where we decided how the UI would work and how it to implement the UI with our solution pipeline. </a:t>
            </a:r>
          </a:p>
        </p:txBody>
      </p:sp>
      <p:sp>
        <p:nvSpPr>
          <p:cNvPr id="4" name="Slide Number Placeholder 3"/>
          <p:cNvSpPr>
            <a:spLocks noGrp="1"/>
          </p:cNvSpPr>
          <p:nvPr>
            <p:ph type="sldNum" sz="quarter" idx="5"/>
          </p:nvPr>
        </p:nvSpPr>
        <p:spPr/>
        <p:txBody>
          <a:bodyPr/>
          <a:lstStyle/>
          <a:p>
            <a:fld id="{D060679C-80C7-4E7D-9614-ABA41C5B2858}" type="slidenum">
              <a:rPr lang="en-US" smtClean="0"/>
              <a:t>6</a:t>
            </a:fld>
            <a:endParaRPr lang="en-US"/>
          </a:p>
        </p:txBody>
      </p:sp>
    </p:spTree>
    <p:extLst>
      <p:ext uri="{BB962C8B-B14F-4D97-AF65-F5344CB8AC3E}">
        <p14:creationId xmlns:p14="http://schemas.microsoft.com/office/powerpoint/2010/main" val="42030673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We utilized a LLM and web scraped data to determine compatibility between a student user and professors of the course. Using data from </a:t>
            </a:r>
            <a:r>
              <a:rPr lang="en-US" err="1"/>
              <a:t>rateMyProfessor</a:t>
            </a:r>
            <a:r>
              <a:rPr lang="en-US"/>
              <a:t> we </a:t>
            </a:r>
            <a:r>
              <a:rPr lang="en-US" err="1"/>
              <a:t>detemined</a:t>
            </a:r>
            <a:r>
              <a:rPr lang="en-US"/>
              <a:t> rank for specific parameters and weighted the compatibility between professor and student with a custom algorithm. And we show the result of a potential student schedule based off of the results.  </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a:p>
        </p:txBody>
      </p:sp>
    </p:spTree>
    <p:extLst>
      <p:ext uri="{BB962C8B-B14F-4D97-AF65-F5344CB8AC3E}">
        <p14:creationId xmlns:p14="http://schemas.microsoft.com/office/powerpoint/2010/main" val="781648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We will first implement a free version of our application at northeastern to understand how the users interact with the application and reiterate based off of feedback. Once we integrate the user feedback and planned functionality, we will launch the product for other universities to use and test as well, while scaling the application to handle more users at once. Finally we will implement a price per student pricing to gain revenue. </a:t>
            </a:r>
          </a:p>
          <a:p>
            <a:endParaRPr lang="en-US">
              <a:ea typeface="等线"/>
            </a:endParaRPr>
          </a:p>
          <a:p>
            <a:r>
              <a:rPr lang="en-US" cap="all"/>
              <a:t> WILL FOCUS ON WORKING WITH UNIVERSITIES TO INCORPORATE THE IDEA WITH THEIR OWN STUDENT REVIEWS</a:t>
            </a:r>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a:p>
        </p:txBody>
      </p:sp>
    </p:spTree>
    <p:extLst>
      <p:ext uri="{BB962C8B-B14F-4D97-AF65-F5344CB8AC3E}">
        <p14:creationId xmlns:p14="http://schemas.microsoft.com/office/powerpoint/2010/main" val="1041730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9</a:t>
            </a:fld>
            <a:endParaRPr lang="en-US" altLang="zh-CN"/>
          </a:p>
        </p:txBody>
      </p:sp>
    </p:spTree>
    <p:extLst>
      <p:ext uri="{BB962C8B-B14F-4D97-AF65-F5344CB8AC3E}">
        <p14:creationId xmlns:p14="http://schemas.microsoft.com/office/powerpoint/2010/main" val="2880906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a:p>
        </p:txBody>
      </p:sp>
    </p:spTree>
    <p:extLst>
      <p:ext uri="{BB962C8B-B14F-4D97-AF65-F5344CB8AC3E}">
        <p14:creationId xmlns:p14="http://schemas.microsoft.com/office/powerpoint/2010/main" val="3790198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We've all had to deal with 15 min drop-in meetings which feel like they've accomplished nothing</a:t>
            </a:r>
          </a:p>
          <a:p>
            <a:endParaRPr lang="en-US">
              <a:latin typeface="Calibri"/>
              <a:cs typeface="Calibri"/>
            </a:endParaRPr>
          </a:p>
          <a:p>
            <a:endParaRPr lang="en-US">
              <a:latin typeface="Calibri"/>
              <a:cs typeface="Calibri"/>
            </a:endParaRPr>
          </a:p>
          <a:p>
            <a:r>
              <a:rPr lang="en-US"/>
              <a:t> Since the initial self-reflection and compatibility matching has already been done, advisors can dedicate more time to nuanced guidance or helping students build a plan that matches their individual strengths.</a:t>
            </a:r>
            <a:endParaRPr lang="en-US">
              <a:ea typeface="等线"/>
            </a:endParaRPr>
          </a:p>
          <a:p>
            <a:endParaRPr lang="en-US">
              <a:ea typeface="等线"/>
            </a:endParaRPr>
          </a:p>
          <a:p>
            <a:pPr marL="171450" indent="-171450">
              <a:buFont typeface="Arial"/>
              <a:buChar char="•"/>
            </a:pPr>
            <a:r>
              <a:rPr lang="en-US" b="1"/>
              <a:t>Self-Advocacy:</a:t>
            </a:r>
            <a:r>
              <a:rPr lang="en-US"/>
              <a:t> The tool teaches students to advocate for themselves based on their learning needs. This is a valuable skill beyond the advisor relationship.</a:t>
            </a:r>
            <a:endParaRPr lang="en-US">
              <a:ea typeface="等线"/>
            </a:endParaRPr>
          </a:p>
          <a:p>
            <a:pPr marL="171450" indent="-171450">
              <a:buFont typeface="Arial"/>
              <a:buChar char="•"/>
            </a:pPr>
            <a:r>
              <a:rPr lang="en-US" b="1"/>
              <a:t>Confidence Boost:</a:t>
            </a:r>
            <a:r>
              <a:rPr lang="en-US"/>
              <a:t> Students arriving at advisor meetings feeling informed and prepared are likely to be more confident and proactive during their sessions.</a:t>
            </a:r>
            <a:endParaRPr lang="en-US">
              <a:ea typeface="等线"/>
            </a:endParaRPr>
          </a:p>
          <a:p>
            <a:endParaRPr lang="en-US">
              <a:ea typeface="等线"/>
            </a:endParaRPr>
          </a:p>
        </p:txBody>
      </p:sp>
      <p:sp>
        <p:nvSpPr>
          <p:cNvPr id="4" name="Slide Number Placeholder 3"/>
          <p:cNvSpPr>
            <a:spLocks noGrp="1"/>
          </p:cNvSpPr>
          <p:nvPr>
            <p:ph type="sldNum" sz="quarter" idx="5"/>
          </p:nvPr>
        </p:nvSpPr>
        <p:spPr/>
        <p:txBody>
          <a:bodyPr/>
          <a:lstStyle/>
          <a:p>
            <a:fld id="{D060679C-80C7-4E7D-9614-ABA41C5B2858}" type="slidenum">
              <a:rPr lang="en-US" smtClean="0"/>
              <a:t>12</a:t>
            </a:fld>
            <a:endParaRPr lang="en-US"/>
          </a:p>
        </p:txBody>
      </p:sp>
    </p:spTree>
    <p:extLst>
      <p:ext uri="{BB962C8B-B14F-4D97-AF65-F5344CB8AC3E}">
        <p14:creationId xmlns:p14="http://schemas.microsoft.com/office/powerpoint/2010/main" val="22898182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a:buChar char="•"/>
            </a:pPr>
            <a:r>
              <a:rPr lang="en-US"/>
              <a:t> Transition to the importance of self-awareness: </a:t>
            </a:r>
            <a:r>
              <a:rPr lang="en-US" b="1"/>
              <a:t>Real power comes from a student understanding how they learn best.</a:t>
            </a:r>
            <a:endParaRPr lang="en-US" b="1">
              <a:ea typeface="等线" panose="020F0502020204030204"/>
            </a:endParaRPr>
          </a:p>
          <a:p>
            <a:pPr>
              <a:buFont typeface="Arial"/>
              <a:buChar char="•"/>
            </a:pPr>
            <a:endParaRPr lang="en-US"/>
          </a:p>
          <a:p>
            <a:pPr>
              <a:buFont typeface="Arial"/>
              <a:buChar char="•"/>
            </a:pPr>
            <a:r>
              <a:rPr lang="en-US"/>
              <a:t>Emphasize that your tool facilitates this self-discovery process by matching individual students with professors whose teaching styles are compatible.</a:t>
            </a:r>
            <a:endParaRPr lang="en-US">
              <a:ea typeface="等线" panose="020F0502020204030204"/>
            </a:endParaRPr>
          </a:p>
          <a:p>
            <a:pPr>
              <a:buFont typeface="Arial"/>
              <a:buChar char="•"/>
            </a:pPr>
            <a:endParaRPr lang="en-US"/>
          </a:p>
          <a:p>
            <a:pPr>
              <a:buFont typeface="Arial"/>
              <a:buChar char="•"/>
            </a:pPr>
            <a:r>
              <a:rPr lang="en-US"/>
              <a:t>Reiterate that this knowledge transcends individual courses, empowering students to make informed decisions about their educational journey for ongoing success.</a:t>
            </a:r>
            <a:endParaRPr lang="en-US">
              <a:ea typeface="等线" panose="020F0502020204030204"/>
            </a:endParaRPr>
          </a:p>
          <a:p>
            <a:pPr>
              <a:buFont typeface="Arial"/>
              <a:buChar char="•"/>
            </a:pPr>
            <a:endParaRPr lang="en-US" b="1">
              <a:ea typeface="等线"/>
            </a:endParaRPr>
          </a:p>
          <a:p>
            <a:pPr>
              <a:buFont typeface="Arial"/>
              <a:buChar char="•"/>
            </a:pPr>
            <a:r>
              <a:rPr lang="en-US"/>
              <a:t>"...they unlock a powerful tool that can guide them throughout their academic career and beyond."</a:t>
            </a:r>
            <a:endParaRPr lang="en-US">
              <a:ea typeface="等线"/>
            </a:endParaRPr>
          </a:p>
          <a:p>
            <a:pPr>
              <a:buFont typeface="Arial"/>
              <a:buChar char="•"/>
            </a:pPr>
            <a:r>
              <a:rPr lang="en-US"/>
              <a:t>"...they're equipped to navigate any learning environment and maximize their potential."</a:t>
            </a:r>
            <a:endParaRPr lang="en-US">
              <a:ea typeface="等线"/>
            </a:endParaRPr>
          </a:p>
          <a:p>
            <a:br>
              <a:rPr lang="en-US">
                <a:cs typeface="+mn-lt"/>
              </a:rPr>
            </a:br>
            <a:endParaRPr lang="en-US">
              <a:ea typeface="等线" panose="020F0502020204030204"/>
            </a:endParaRP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D060679C-80C7-4E7D-9614-ABA41C5B2858}" type="slidenum">
              <a:rPr lang="en-US" smtClean="0"/>
              <a:t>13</a:t>
            </a:fld>
            <a:endParaRPr lang="en-US"/>
          </a:p>
        </p:txBody>
      </p:sp>
    </p:spTree>
    <p:extLst>
      <p:ext uri="{BB962C8B-B14F-4D97-AF65-F5344CB8AC3E}">
        <p14:creationId xmlns:p14="http://schemas.microsoft.com/office/powerpoint/2010/main" val="2393465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4/4/2024</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408590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040206258"/>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57977379"/>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4/4/2024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33734387"/>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4/4/2024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59101171"/>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4/4/2024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578868"/>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4/4/2024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45261708"/>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038564645"/>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71579538"/>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32296850"/>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472041817"/>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494620033"/>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542634919"/>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693718158"/>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731588412"/>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p>
        </p:txBody>
      </p:sp>
    </p:spTree>
    <p:extLst>
      <p:ext uri="{BB962C8B-B14F-4D97-AF65-F5344CB8AC3E}">
        <p14:creationId xmlns:p14="http://schemas.microsoft.com/office/powerpoint/2010/main" val="101468925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878439289"/>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bg1"/>
                </a:solidFill>
              </a:defRPr>
            </a:lvl1pPr>
          </a:lstStyle>
          <a:p>
            <a:r>
              <a:rPr lang="en-US" altLang="zh-CN"/>
              <a:t>Click icon to add picture</a:t>
            </a:r>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bg1"/>
                </a:solidFill>
              </a:defRPr>
            </a:lvl1pPr>
          </a:lstStyle>
          <a:p>
            <a:r>
              <a:rPr lang="en-US" altLang="zh-CN"/>
              <a:t>Click icon to add picture</a:t>
            </a:r>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bg1"/>
                </a:solidFill>
              </a:defRPr>
            </a:lvl1pPr>
          </a:lstStyle>
          <a:p>
            <a:r>
              <a:rPr lang="en-US" altLang="zh-CN"/>
              <a:t>Click icon to add picture</a:t>
            </a:r>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bg1"/>
                </a:solidFill>
              </a:defRPr>
            </a:lvl1pPr>
          </a:lstStyle>
          <a:p>
            <a:r>
              <a:rPr lang="en-US" altLang="zh-CN"/>
              <a:t>Click icon to add picture</a:t>
            </a:r>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p>
            <a:r>
              <a:rPr lang="en-US"/>
              <a:t>Click to edit Master title style</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8733947"/>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p>
            <a:r>
              <a:rPr lang="en-US" noProof="0"/>
              <a:t>Click to edit Master title style</a:t>
            </a:r>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r>
              <a:rPr lang="en-US" noProof="0"/>
              <a:t>Presentation Title</a:t>
            </a:r>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a:p>
        </p:txBody>
      </p:sp>
    </p:spTree>
    <p:extLst>
      <p:ext uri="{BB962C8B-B14F-4D97-AF65-F5344CB8AC3E}">
        <p14:creationId xmlns:p14="http://schemas.microsoft.com/office/powerpoint/2010/main" val="1183795000"/>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p>
            <a:r>
              <a:rPr lang="en-US"/>
              <a:t>Click to edit Master title style</a:t>
            </a:r>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r>
              <a:rPr lang="en-US" noProof="0"/>
              <a:t>Presentation Title</a:t>
            </a:r>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a:p>
        </p:txBody>
      </p:sp>
    </p:spTree>
    <p:extLst>
      <p:ext uri="{BB962C8B-B14F-4D97-AF65-F5344CB8AC3E}">
        <p14:creationId xmlns:p14="http://schemas.microsoft.com/office/powerpoint/2010/main" val="2486297678"/>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a:p>
        </p:txBody>
      </p:sp>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noProof="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noProof="0"/>
              <a:t>Click icon to add picture</a:t>
            </a:r>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p>
            <a:r>
              <a:rPr lang="en-US" noProof="0"/>
              <a:t>Click to edit Master title style</a:t>
            </a:r>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noProof="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a:p>
        </p:txBody>
      </p:sp>
    </p:spTree>
    <p:extLst>
      <p:ext uri="{BB962C8B-B14F-4D97-AF65-F5344CB8AC3E}">
        <p14:creationId xmlns:p14="http://schemas.microsoft.com/office/powerpoint/2010/main" val="1475583889"/>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p>
            <a:r>
              <a:rPr lang="en-US"/>
              <a:t>Click to edit Master title style</a:t>
            </a:r>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tx2"/>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lvl1pPr>
          </a:lstStyle>
          <a:p>
            <a:r>
              <a:rPr lang="en-US"/>
              <a:t>Click icon to add picture</a:t>
            </a:r>
          </a:p>
        </p:txBody>
      </p:sp>
    </p:spTree>
    <p:extLst>
      <p:ext uri="{BB962C8B-B14F-4D97-AF65-F5344CB8AC3E}">
        <p14:creationId xmlns:p14="http://schemas.microsoft.com/office/powerpoint/2010/main" val="3986699215"/>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a:t>Click to edit Master title style</a:t>
            </a:r>
            <a:endParaRPr lang="zh-CN" altLang="en-US"/>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lvl1pPr>
          </a:lstStyle>
          <a:p>
            <a:r>
              <a:rPr lang="en-US"/>
              <a:t>Click to edit Master title style</a:t>
            </a:r>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a:t>Click to edit Master title style</a:t>
            </a:r>
            <a:endParaRPr lang="zh-CN" altLang="en-US"/>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a:t>Click to edit Master title style</a:t>
            </a:r>
            <a:endParaRPr lang="zh-CN" altLang="en-US"/>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a:t>Click to edit Master title style</a:t>
            </a:r>
            <a:endParaRPr lang="zh-CN" altLang="en-US"/>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a:t>Click to edit Master title style</a:t>
            </a:r>
            <a:endParaRPr lang="zh-CN" altLang="en-US"/>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a:p>
        </p:txBody>
      </p:sp>
    </p:spTree>
    <p:extLst>
      <p:ext uri="{BB962C8B-B14F-4D97-AF65-F5344CB8AC3E}">
        <p14:creationId xmlns:p14="http://schemas.microsoft.com/office/powerpoint/2010/main" val="188495695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p>
            <a:r>
              <a:rPr lang="en-US"/>
              <a:t>Click to edit Master title style</a:t>
            </a:r>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bg1"/>
                </a:solidFill>
              </a:defRPr>
            </a:lvl1pPr>
          </a:lstStyle>
          <a:p>
            <a:r>
              <a:rPr lang="en-US" altLang="zh-CN"/>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r>
              <a:rPr lang="en-US" noProof="0"/>
              <a:t>Presentation Title</a:t>
            </a:r>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a:p>
        </p:txBody>
      </p:sp>
    </p:spTree>
    <p:extLst>
      <p:ext uri="{BB962C8B-B14F-4D97-AF65-F5344CB8AC3E}">
        <p14:creationId xmlns:p14="http://schemas.microsoft.com/office/powerpoint/2010/main" val="3414086893"/>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noProof="0"/>
              <a:t>Click to edit </a:t>
            </a:r>
            <a:r>
              <a:rPr lang="en-US" altLang="zh-CN" noProof="0"/>
              <a:t>Text </a:t>
            </a:r>
            <a:r>
              <a:rPr lang="en-US" noProof="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2"/>
                </a:solidFill>
                <a:latin typeface="+mn-lt"/>
              </a:defRPr>
            </a:lvl1pPr>
            <a:lvl2pPr>
              <a:defRPr sz="1000"/>
            </a:lvl2pPr>
            <a:lvl3pPr>
              <a:defRPr sz="900"/>
            </a:lvl3pPr>
            <a:lvl4pPr>
              <a:defRPr sz="800"/>
            </a:lvl4pPr>
            <a:lvl5pPr>
              <a:defRPr sz="800"/>
            </a:lvl5pPr>
          </a:lstStyle>
          <a:p>
            <a:pPr lvl="0"/>
            <a:r>
              <a:rPr lang="en-US" altLang="zh-CN" noProof="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a:p>
        </p:txBody>
      </p:sp>
    </p:spTree>
    <p:extLst>
      <p:ext uri="{BB962C8B-B14F-4D97-AF65-F5344CB8AC3E}">
        <p14:creationId xmlns:p14="http://schemas.microsoft.com/office/powerpoint/2010/main" val="25130418"/>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p>
            <a:r>
              <a:rPr lang="en-US"/>
              <a:t>Click to edit Master title style</a:t>
            </a:r>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p>
            <a:r>
              <a:rPr lang="en-US" noProof="0"/>
              <a:t>Presentation Title</a:t>
            </a:r>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lvl1pPr>
          </a:lstStyle>
          <a:p>
            <a:fld id="{47FEACEE-25B4-4A2D-B147-27296E36371D}" type="slidenum">
              <a:rPr lang="en-US" altLang="zh-CN" smtClean="0"/>
              <a:pPr/>
              <a:t>‹#›</a:t>
            </a:fld>
            <a:endParaRPr lang="en-US" altLang="zh-CN"/>
          </a:p>
        </p:txBody>
      </p:sp>
    </p:spTree>
    <p:extLst>
      <p:ext uri="{BB962C8B-B14F-4D97-AF65-F5344CB8AC3E}">
        <p14:creationId xmlns:p14="http://schemas.microsoft.com/office/powerpoint/2010/main" val="3022930319"/>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lvl1pPr>
          </a:lstStyle>
          <a:p>
            <a:r>
              <a:rPr lang="en-US"/>
              <a:t>Click to edit Master title style</a:t>
            </a:r>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p>
            <a:r>
              <a:rPr lang="en-US" noProof="0"/>
              <a:t>Presentation Title</a:t>
            </a:r>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p>
            <a:fld id="{47FEACEE-25B4-4A2D-B147-27296E36371D}" type="slidenum">
              <a:rPr lang="en-US" altLang="zh-CN" noProof="0" smtClean="0"/>
              <a:pPr/>
              <a:t>‹#›</a:t>
            </a:fld>
            <a:endParaRPr lang="en-US" altLang="zh-CN" noProof="0"/>
          </a:p>
        </p:txBody>
      </p:sp>
    </p:spTree>
    <p:extLst>
      <p:ext uri="{BB962C8B-B14F-4D97-AF65-F5344CB8AC3E}">
        <p14:creationId xmlns:p14="http://schemas.microsoft.com/office/powerpoint/2010/main" val="1556832271"/>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1">
                <a:lumMod val="75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rgbClr val="44678D"/>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lvl1pPr>
          </a:lstStyle>
          <a:p>
            <a:r>
              <a:rPr lang="en-US"/>
              <a:t>Click to edit Master title style</a:t>
            </a:r>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p>
            <a:r>
              <a:rPr lang="en-US" noProof="0"/>
              <a:t>Presentation Title</a:t>
            </a:r>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p>
            <a:fld id="{47FEACEE-25B4-4A2D-B147-27296E36371D}" type="slidenum">
              <a:rPr lang="en-US" altLang="zh-CN" noProof="0" smtClean="0"/>
              <a:pPr/>
              <a:t>‹#›</a:t>
            </a:fld>
            <a:endParaRPr lang="en-US" altLang="zh-CN" noProof="0"/>
          </a:p>
        </p:txBody>
      </p:sp>
    </p:spTree>
    <p:extLst>
      <p:ext uri="{BB962C8B-B14F-4D97-AF65-F5344CB8AC3E}">
        <p14:creationId xmlns:p14="http://schemas.microsoft.com/office/powerpoint/2010/main" val="2311198828"/>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bg1"/>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bg1"/>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bg1"/>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p>
            <a:r>
              <a:rPr lang="en-US"/>
              <a:t>Click to edit Master title style</a:t>
            </a:r>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a:p>
        </p:txBody>
      </p:sp>
    </p:spTree>
    <p:extLst>
      <p:ext uri="{BB962C8B-B14F-4D97-AF65-F5344CB8AC3E}">
        <p14:creationId xmlns:p14="http://schemas.microsoft.com/office/powerpoint/2010/main" val="253795998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solidFill>
              <a:schemeClr val="tx1"/>
            </a:solidFill>
          </a:ln>
        </p:spPr>
        <p:txBody>
          <a:bodyPr anchor="ctr">
            <a:noAutofit/>
          </a:bodyPr>
          <a:lstStyle>
            <a:lvl1pPr marL="0" indent="0" algn="ctr">
              <a:buNone/>
              <a:defRPr>
                <a:solidFill>
                  <a:schemeClr val="bg1"/>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p>
            <a:r>
              <a:rPr lang="en-US"/>
              <a:t>Click to edit Master title style</a:t>
            </a:r>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p>
            <a:r>
              <a:rPr lang="en-US" noProof="0"/>
              <a:t>Presentation Title</a:t>
            </a:r>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p>
            <a:fld id="{47FEACEE-25B4-4A2D-B147-27296E36371D}" type="slidenum">
              <a:rPr lang="en-US" altLang="zh-CN" noProof="0" smtClean="0"/>
              <a:pPr/>
              <a:t>‹#›</a:t>
            </a:fld>
            <a:endParaRPr lang="en-US" altLang="zh-CN" noProof="0"/>
          </a:p>
        </p:txBody>
      </p:sp>
    </p:spTree>
    <p:extLst>
      <p:ext uri="{BB962C8B-B14F-4D97-AF65-F5344CB8AC3E}">
        <p14:creationId xmlns:p14="http://schemas.microsoft.com/office/powerpoint/2010/main" val="1730081092"/>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4/4/2024</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2782164670"/>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 id="2147483750" r:id="rId19"/>
    <p:sldLayoutId id="2147483751" r:id="rId20"/>
    <p:sldLayoutId id="2147483752" r:id="rId21"/>
    <p:sldLayoutId id="2147483753" r:id="rId22"/>
    <p:sldLayoutId id="2147483754" r:id="rId23"/>
    <p:sldLayoutId id="2147483755" r:id="rId24"/>
    <p:sldLayoutId id="2147483756" r:id="rId25"/>
    <p:sldLayoutId id="2147483757" r:id="rId26"/>
    <p:sldLayoutId id="2147483758" r:id="rId27"/>
    <p:sldLayoutId id="2147483759" r:id="rId28"/>
    <p:sldLayoutId id="2147483760" r:id="rId29"/>
    <p:sldLayoutId id="2147483761" r:id="rId30"/>
  </p:sldLayoutIdLst>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hyperlink" Target="https://creativecommons.org/licenses/by-nc-nd/3.0/" TargetMode="External"/><Relationship Id="rId5" Type="http://schemas.openxmlformats.org/officeDocument/2006/relationships/image" Target="../media/image9.png"/><Relationship Id="rId4" Type="http://schemas.openxmlformats.org/officeDocument/2006/relationships/hyperlink" Target="https://biancosulnero.blogspot.com/2016/11/compresenza-educatore-ed-insegnante-di.htm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1.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4.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jpeg"/><Relationship Id="rId7"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27.xml"/><Relationship Id="rId6" Type="http://schemas.openxmlformats.org/officeDocument/2006/relationships/hyperlink" Target="https://www.duperrin.com/english/2017/07/20/being-data-driven-means-being-contex-driven/data-mining-infographic/" TargetMode="External"/><Relationship Id="rId11" Type="http://schemas.openxmlformats.org/officeDocument/2006/relationships/hyperlink" Target="https://drive.google.com/file/d/10tJZQnsdmeDIvAELg3rxxLBIIc24N3R_/view?usp=sharing" TargetMode="External"/><Relationship Id="rId5" Type="http://schemas.openxmlformats.org/officeDocument/2006/relationships/image" Target="../media/image17.jpeg"/><Relationship Id="rId10" Type="http://schemas.openxmlformats.org/officeDocument/2006/relationships/image" Target="../media/image20.jpeg"/><Relationship Id="rId4" Type="http://schemas.openxmlformats.org/officeDocument/2006/relationships/hyperlink" Target="https://andrejgajdos.com/how-to-hire-a-freelance-front-end-developer/" TargetMode="External"/><Relationship Id="rId9"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7"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8.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a:ext>
            </a:extLst>
          </a:blip>
          <a:srcRect t="11355" r="6" b="11428"/>
          <a:stretch/>
        </p:blipFill>
        <p:spPr>
          <a:xfrm>
            <a:off x="391110" y="2493385"/>
            <a:ext cx="1465840" cy="1289394"/>
          </a:xfrm>
          <a:prstGeom prst="hexagon">
            <a:avLst>
              <a:gd name="adj" fmla="val 28349"/>
              <a:gd name="vf" fmla="val 115470"/>
            </a:avLst>
          </a:prstGeom>
          <a:noFill/>
          <a:ln>
            <a:noFill/>
          </a:ln>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r="12" b="26888"/>
          <a:stretch/>
        </p:blipFill>
        <p:spPr>
          <a:xfrm>
            <a:off x="5151412" y="5238680"/>
            <a:ext cx="1465840" cy="1289394"/>
          </a:xfrm>
          <a:prstGeom prst="hexagon">
            <a:avLst>
              <a:gd name="adj" fmla="val 28349"/>
              <a:gd name="vf" fmla="val 115470"/>
            </a:avLst>
          </a:prstGeom>
          <a:noFill/>
          <a:ln w="12700">
            <a:noFill/>
          </a:ln>
        </p:spPr>
      </p:pic>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7"/>
          </p:nvPr>
        </p:nvSpPr>
        <p:spPr/>
        <p:txBody>
          <a:bodyPr anchor="t">
            <a:normAutofit/>
          </a:bodyPr>
          <a:lstStyle/>
          <a:p>
            <a:r>
              <a:rPr lang="en-US">
                <a:solidFill>
                  <a:schemeClr val="tx1"/>
                </a:solidFill>
                <a:ea typeface="Calibri"/>
                <a:cs typeface="Calibri"/>
              </a:rPr>
              <a:t>By </a:t>
            </a:r>
            <a:r>
              <a:rPr lang="en-US" err="1">
                <a:solidFill>
                  <a:schemeClr val="tx1"/>
                </a:solidFill>
                <a:ea typeface="Calibri"/>
                <a:cs typeface="Calibri"/>
              </a:rPr>
              <a:t>DerekGPT</a:t>
            </a:r>
            <a:r>
              <a:rPr lang="en-US">
                <a:solidFill>
                  <a:schemeClr val="tx1"/>
                </a:solidFill>
                <a:ea typeface="Calibri"/>
                <a:cs typeface="Calibri"/>
              </a:rPr>
              <a:t>, </a:t>
            </a:r>
            <a:r>
              <a:rPr lang="en-US" err="1">
                <a:solidFill>
                  <a:schemeClr val="tx1"/>
                </a:solidFill>
                <a:ea typeface="Calibri"/>
                <a:cs typeface="Calibri"/>
              </a:rPr>
              <a:t>DerekAI</a:t>
            </a:r>
            <a:r>
              <a:rPr lang="en-US">
                <a:solidFill>
                  <a:schemeClr val="tx1"/>
                </a:solidFill>
                <a:ea typeface="Calibri"/>
                <a:cs typeface="Calibri"/>
              </a:rPr>
              <a:t>, etc...</a:t>
            </a:r>
          </a:p>
        </p:txBody>
      </p:sp>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p:txBody>
          <a:bodyPr anchor="b">
            <a:normAutofit/>
          </a:bodyPr>
          <a:lstStyle/>
          <a:p>
            <a:r>
              <a:rPr lang="en-US" altLang="zh-CN" err="1"/>
              <a:t>EduConnect</a:t>
            </a:r>
          </a:p>
        </p:txBody>
      </p:sp>
      <p:pic>
        <p:nvPicPr>
          <p:cNvPr id="6" name="Shape 33" descr="A black circle with orange lines&#10;&#10;Description automatically generated">
            <a:extLst>
              <a:ext uri="{FF2B5EF4-FFF2-40B4-BE49-F238E27FC236}">
                <a16:creationId xmlns:a16="http://schemas.microsoft.com/office/drawing/2014/main" id="{3DBAF97A-09FC-A45C-6095-7124F471BD9D}"/>
              </a:ext>
              <a:ext uri="{C183D7F6-B498-43B3-948B-1728B52AA6E4}">
                <adec:decorative xmlns:adec="http://schemas.microsoft.com/office/drawing/2017/decorative" val="0"/>
              </a:ext>
            </a:extLst>
          </p:cNvPr>
          <p:cNvPicPr>
            <a:picLocks noChangeAspect="1"/>
          </p:cNvPicPr>
          <p:nvPr/>
        </p:nvPicPr>
        <p:blipFill rotWithShape="1">
          <a:blip r:embed="rId3">
            <a:extLst>
              <a:ext uri="{28A0092B-C50C-407E-A947-70E740481C1C}">
                <a14:useLocalDpi xmlns:a14="http://schemas.microsoft.com/office/drawing/2010/main"/>
              </a:ext>
            </a:extLst>
          </a:blip>
          <a:srcRect t="11355" r="6" b="11428"/>
          <a:stretch/>
        </p:blipFill>
        <p:spPr>
          <a:xfrm>
            <a:off x="2772359" y="2445759"/>
            <a:ext cx="1465840" cy="1289394"/>
          </a:xfrm>
          <a:prstGeom prst="hexagon">
            <a:avLst>
              <a:gd name="adj" fmla="val 28349"/>
              <a:gd name="vf" fmla="val 115470"/>
            </a:avLst>
          </a:prstGeom>
          <a:noFill/>
          <a:ln>
            <a:noFill/>
          </a:ln>
        </p:spPr>
      </p:pic>
      <p:pic>
        <p:nvPicPr>
          <p:cNvPr id="2" name="Picture 1" descr="A cartoon of a person holding a magnifying glass&#10;&#10;Description automatically generated">
            <a:extLst>
              <a:ext uri="{FF2B5EF4-FFF2-40B4-BE49-F238E27FC236}">
                <a16:creationId xmlns:a16="http://schemas.microsoft.com/office/drawing/2014/main" id="{7556FB31-D2A5-03E8-F45D-CA2782D003AF}"/>
              </a:ext>
            </a:extLst>
          </p:cNvPr>
          <p:cNvPicPr>
            <a:picLocks noChangeAspect="1"/>
          </p:cNvPicPr>
          <p:nvPr/>
        </p:nvPicPr>
        <p:blipFill>
          <a:blip r:embed="rId5"/>
          <a:stretch>
            <a:fillRect/>
          </a:stretch>
        </p:blipFill>
        <p:spPr>
          <a:xfrm>
            <a:off x="10181428" y="851"/>
            <a:ext cx="2011851" cy="2007594"/>
          </a:xfrm>
          <a:prstGeom prst="rect">
            <a:avLst/>
          </a:prstGeom>
        </p:spPr>
      </p:pic>
    </p:spTree>
    <p:extLst>
      <p:ext uri="{BB962C8B-B14F-4D97-AF65-F5344CB8AC3E}">
        <p14:creationId xmlns:p14="http://schemas.microsoft.com/office/powerpoint/2010/main" val="3898447929"/>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DF64211-DCD8-B458-DBD2-EBDA7AE3396F}"/>
              </a:ext>
            </a:extLst>
          </p:cNvPr>
          <p:cNvSpPr>
            <a:spLocks noGrp="1"/>
          </p:cNvSpPr>
          <p:nvPr>
            <p:ph type="title"/>
          </p:nvPr>
        </p:nvSpPr>
        <p:spPr>
          <a:xfrm>
            <a:off x="1207302" y="437209"/>
            <a:ext cx="4253399" cy="1740114"/>
          </a:xfrm>
        </p:spPr>
        <p:txBody>
          <a:bodyPr/>
          <a:lstStyle/>
          <a:p>
            <a:r>
              <a:rPr lang="en-US" altLang="zh-CN"/>
              <a:t>Agenda</a:t>
            </a:r>
            <a:endParaRPr lang="en-US"/>
          </a:p>
        </p:txBody>
      </p:sp>
      <p:sp>
        <p:nvSpPr>
          <p:cNvPr id="16" name="Text Placeholder 15">
            <a:extLst>
              <a:ext uri="{FF2B5EF4-FFF2-40B4-BE49-F238E27FC236}">
                <a16:creationId xmlns:a16="http://schemas.microsoft.com/office/drawing/2014/main" id="{8FEA3BB9-F064-CFBE-C0BE-BB7A22A4DCFC}"/>
              </a:ext>
            </a:extLst>
          </p:cNvPr>
          <p:cNvSpPr>
            <a:spLocks noGrp="1"/>
          </p:cNvSpPr>
          <p:nvPr>
            <p:ph type="body" sz="quarter" idx="28"/>
          </p:nvPr>
        </p:nvSpPr>
        <p:spPr/>
        <p:txBody>
          <a:bodyPr/>
          <a:lstStyle/>
          <a:p>
            <a:r>
              <a:rPr lang="en-US">
                <a:solidFill>
                  <a:schemeClr val="tx1"/>
                </a:solidFill>
                <a:latin typeface="Abadi"/>
              </a:rPr>
              <a:t>Background</a:t>
            </a:r>
            <a:br>
              <a:rPr lang="en-US">
                <a:solidFill>
                  <a:schemeClr val="tx1"/>
                </a:solidFill>
                <a:latin typeface="Abadi"/>
              </a:rPr>
            </a:br>
            <a:r>
              <a:rPr lang="en-US">
                <a:solidFill>
                  <a:schemeClr val="tx1"/>
                </a:solidFill>
                <a:latin typeface="Abadi"/>
              </a:rPr>
              <a:t>&amp;</a:t>
            </a:r>
            <a:br>
              <a:rPr lang="en-US">
                <a:solidFill>
                  <a:schemeClr val="tx1"/>
                </a:solidFill>
                <a:latin typeface="Abadi"/>
              </a:rPr>
            </a:br>
            <a:r>
              <a:rPr lang="en-US">
                <a:solidFill>
                  <a:schemeClr val="tx1"/>
                </a:solidFill>
                <a:latin typeface="Abadi"/>
              </a:rPr>
              <a:t>Significance</a:t>
            </a:r>
            <a:endParaRPr lang="en-US">
              <a:solidFill>
                <a:schemeClr val="tx1"/>
              </a:solidFill>
            </a:endParaRPr>
          </a:p>
        </p:txBody>
      </p:sp>
      <p:sp>
        <p:nvSpPr>
          <p:cNvPr id="9" name="Text Placeholder 8">
            <a:extLst>
              <a:ext uri="{FF2B5EF4-FFF2-40B4-BE49-F238E27FC236}">
                <a16:creationId xmlns:a16="http://schemas.microsoft.com/office/drawing/2014/main" id="{78024C77-A2F8-1ABA-5412-E6BB88B5FA1B}"/>
              </a:ext>
            </a:extLst>
          </p:cNvPr>
          <p:cNvSpPr>
            <a:spLocks noGrp="1"/>
          </p:cNvSpPr>
          <p:nvPr>
            <p:ph type="body" sz="quarter" idx="29"/>
          </p:nvPr>
        </p:nvSpPr>
        <p:spPr/>
        <p:txBody>
          <a:bodyPr/>
          <a:lstStyle/>
          <a:p>
            <a:r>
              <a:rPr lang="en-US">
                <a:solidFill>
                  <a:schemeClr val="tx1"/>
                </a:solidFill>
                <a:latin typeface="Abadi"/>
              </a:rPr>
              <a:t>Solution Overview</a:t>
            </a:r>
            <a:endParaRPr lang="en-US">
              <a:solidFill>
                <a:schemeClr val="tx1"/>
              </a:solidFill>
            </a:endParaRPr>
          </a:p>
        </p:txBody>
      </p:sp>
      <p:sp>
        <p:nvSpPr>
          <p:cNvPr id="18" name="Text Placeholder 17">
            <a:extLst>
              <a:ext uri="{FF2B5EF4-FFF2-40B4-BE49-F238E27FC236}">
                <a16:creationId xmlns:a16="http://schemas.microsoft.com/office/drawing/2014/main" id="{241202DB-E499-EB19-8A48-A3301DA59ED7}"/>
              </a:ext>
            </a:extLst>
          </p:cNvPr>
          <p:cNvSpPr>
            <a:spLocks noGrp="1"/>
          </p:cNvSpPr>
          <p:nvPr>
            <p:ph type="body" sz="quarter" idx="30"/>
          </p:nvPr>
        </p:nvSpPr>
        <p:spPr/>
        <p:txBody>
          <a:bodyPr/>
          <a:lstStyle/>
          <a:p>
            <a:pPr>
              <a:lnSpc>
                <a:spcPct val="112999"/>
              </a:lnSpc>
            </a:pPr>
            <a:r>
              <a:rPr lang="en-US">
                <a:solidFill>
                  <a:schemeClr val="tx1"/>
                </a:solidFill>
                <a:latin typeface="Abadi"/>
              </a:rPr>
              <a:t>Business Model</a:t>
            </a:r>
            <a:endParaRPr lang="en-US">
              <a:solidFill>
                <a:schemeClr val="tx1"/>
              </a:solidFill>
            </a:endParaRPr>
          </a:p>
        </p:txBody>
      </p:sp>
      <p:sp>
        <p:nvSpPr>
          <p:cNvPr id="22" name="Text Placeholder 21">
            <a:extLst>
              <a:ext uri="{FF2B5EF4-FFF2-40B4-BE49-F238E27FC236}">
                <a16:creationId xmlns:a16="http://schemas.microsoft.com/office/drawing/2014/main" id="{D5402852-C1AD-6A4E-DAA7-0AE582A742FD}"/>
              </a:ext>
            </a:extLst>
          </p:cNvPr>
          <p:cNvSpPr>
            <a:spLocks noGrp="1"/>
          </p:cNvSpPr>
          <p:nvPr>
            <p:ph type="body" sz="quarter" idx="31"/>
          </p:nvPr>
        </p:nvSpPr>
        <p:spPr/>
        <p:txBody>
          <a:bodyPr/>
          <a:lstStyle/>
          <a:p>
            <a:pPr>
              <a:lnSpc>
                <a:spcPct val="112999"/>
              </a:lnSpc>
            </a:pPr>
            <a:r>
              <a:rPr lang="en-US">
                <a:solidFill>
                  <a:schemeClr val="tx1"/>
                </a:solidFill>
                <a:latin typeface="Abadi"/>
              </a:rPr>
              <a:t>Ethical Considerations</a:t>
            </a:r>
            <a:endParaRPr lang="en-US">
              <a:solidFill>
                <a:schemeClr val="tx1"/>
              </a:solidFill>
            </a:endParaRPr>
          </a:p>
        </p:txBody>
      </p:sp>
      <p:sp>
        <p:nvSpPr>
          <p:cNvPr id="24" name="Text Placeholder 23">
            <a:extLst>
              <a:ext uri="{FF2B5EF4-FFF2-40B4-BE49-F238E27FC236}">
                <a16:creationId xmlns:a16="http://schemas.microsoft.com/office/drawing/2014/main" id="{ABF1D337-2A3C-A0FB-A6CD-5E4B9D6DFD91}"/>
              </a:ext>
            </a:extLst>
          </p:cNvPr>
          <p:cNvSpPr>
            <a:spLocks noGrp="1"/>
          </p:cNvSpPr>
          <p:nvPr>
            <p:ph type="body" sz="quarter" idx="32"/>
          </p:nvPr>
        </p:nvSpPr>
        <p:spPr/>
        <p:txBody>
          <a:bodyPr/>
          <a:lstStyle/>
          <a:p>
            <a:r>
              <a:rPr lang="en-US">
                <a:solidFill>
                  <a:schemeClr val="tx1"/>
                </a:solidFill>
                <a:latin typeface="Abadi"/>
              </a:rPr>
              <a:t>Demo</a:t>
            </a:r>
            <a:br>
              <a:rPr lang="en-US">
                <a:solidFill>
                  <a:schemeClr val="tx1"/>
                </a:solidFill>
                <a:latin typeface="Abadi"/>
              </a:rPr>
            </a:br>
            <a:r>
              <a:rPr lang="en-US">
                <a:solidFill>
                  <a:schemeClr val="tx1"/>
                </a:solidFill>
                <a:latin typeface="Abadi"/>
              </a:rPr>
              <a:t>&amp;</a:t>
            </a:r>
            <a:br>
              <a:rPr lang="en-US">
                <a:solidFill>
                  <a:schemeClr val="tx1"/>
                </a:solidFill>
                <a:latin typeface="Abadi"/>
              </a:rPr>
            </a:br>
            <a:r>
              <a:rPr lang="en-US">
                <a:solidFill>
                  <a:schemeClr val="tx1"/>
                </a:solidFill>
                <a:latin typeface="Abadi"/>
              </a:rPr>
              <a:t>Future Steps</a:t>
            </a:r>
            <a:endParaRPr lang="en-US">
              <a:solidFill>
                <a:schemeClr val="tx1"/>
              </a:solidFill>
            </a:endParaRPr>
          </a:p>
        </p:txBody>
      </p:sp>
      <p:sp>
        <p:nvSpPr>
          <p:cNvPr id="20" name="Footer Placeholder 19">
            <a:extLst>
              <a:ext uri="{FF2B5EF4-FFF2-40B4-BE49-F238E27FC236}">
                <a16:creationId xmlns:a16="http://schemas.microsoft.com/office/drawing/2014/main" id="{1664F554-8F3F-2148-FE86-1FE8F66B856B}"/>
              </a:ext>
            </a:extLst>
          </p:cNvPr>
          <p:cNvSpPr>
            <a:spLocks noGrp="1"/>
          </p:cNvSpPr>
          <p:nvPr>
            <p:ph type="ftr" sz="quarter" idx="33"/>
          </p:nvPr>
        </p:nvSpPr>
        <p:spPr/>
        <p:txBody>
          <a:bodyPr/>
          <a:lstStyle/>
          <a:p>
            <a:r>
              <a:rPr lang="en-US" err="1"/>
              <a:t>EduConnect</a:t>
            </a:r>
          </a:p>
        </p:txBody>
      </p:sp>
      <p:pic>
        <p:nvPicPr>
          <p:cNvPr id="2" name="Picture 1" descr="A cartoon of a person holding a magnifying glass&#10;&#10;Description automatically generated">
            <a:extLst>
              <a:ext uri="{FF2B5EF4-FFF2-40B4-BE49-F238E27FC236}">
                <a16:creationId xmlns:a16="http://schemas.microsoft.com/office/drawing/2014/main" id="{F36E7413-FD28-4469-086E-5B741FCEF297}"/>
              </a:ext>
            </a:extLst>
          </p:cNvPr>
          <p:cNvPicPr>
            <a:picLocks noChangeAspect="1"/>
          </p:cNvPicPr>
          <p:nvPr/>
        </p:nvPicPr>
        <p:blipFill>
          <a:blip r:embed="rId3"/>
          <a:stretch>
            <a:fillRect/>
          </a:stretch>
        </p:blipFill>
        <p:spPr>
          <a:xfrm>
            <a:off x="10181428" y="851"/>
            <a:ext cx="2011851" cy="2007594"/>
          </a:xfrm>
          <a:prstGeom prst="rect">
            <a:avLst/>
          </a:prstGeom>
        </p:spPr>
      </p:pic>
      <p:pic>
        <p:nvPicPr>
          <p:cNvPr id="6" name="图片 5">
            <a:extLst>
              <a:ext uri="{FF2B5EF4-FFF2-40B4-BE49-F238E27FC236}">
                <a16:creationId xmlns:a16="http://schemas.microsoft.com/office/drawing/2014/main" id="{29D8AAAC-6569-5E0D-268F-770700771C7E}"/>
              </a:ext>
            </a:extLst>
          </p:cNvPr>
          <p:cNvPicPr>
            <a:picLocks noChangeAspect="1"/>
          </p:cNvPicPr>
          <p:nvPr/>
        </p:nvPicPr>
        <p:blipFill>
          <a:blip r:embed="rId4"/>
          <a:stretch>
            <a:fillRect/>
          </a:stretch>
        </p:blipFill>
        <p:spPr>
          <a:xfrm>
            <a:off x="960000" y="1850742"/>
            <a:ext cx="6096000" cy="3744516"/>
          </a:xfrm>
          <a:prstGeom prst="rect">
            <a:avLst/>
          </a:prstGeom>
        </p:spPr>
      </p:pic>
      <p:sp>
        <p:nvSpPr>
          <p:cNvPr id="4" name="Slide Number Placeholder 13">
            <a:extLst>
              <a:ext uri="{FF2B5EF4-FFF2-40B4-BE49-F238E27FC236}">
                <a16:creationId xmlns:a16="http://schemas.microsoft.com/office/drawing/2014/main" id="{C524EB49-ECC7-C74C-7C30-8DA9D45A81D1}"/>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rgbClr val="FFFFFF"/>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altLang="zh-CN" sz="1200" u="none" strike="noStrike" kern="1200" cap="none" spc="0" normalizeH="0" baseline="0">
              <a:ln>
                <a:noFill/>
              </a:ln>
              <a:solidFill>
                <a:srgbClr val="FFFFFF"/>
              </a:solidFill>
              <a:effectLst/>
              <a:uLnTx/>
              <a:uFillTx/>
            </a:endParaRPr>
          </a:p>
        </p:txBody>
      </p:sp>
    </p:spTree>
    <p:extLst>
      <p:ext uri="{BB962C8B-B14F-4D97-AF65-F5344CB8AC3E}">
        <p14:creationId xmlns:p14="http://schemas.microsoft.com/office/powerpoint/2010/main" val="277553516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448241" y="75225"/>
            <a:ext cx="5117162" cy="1325563"/>
          </a:xfrm>
        </p:spPr>
        <p:txBody>
          <a:bodyPr/>
          <a:lstStyle/>
          <a:p>
            <a:r>
              <a:rPr lang="en-US" altLang="zh-CN"/>
              <a:t>Background</a:t>
            </a:r>
            <a:endParaRPr lang="en-US"/>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a:xfrm>
            <a:off x="376241" y="1063935"/>
            <a:ext cx="4260180" cy="1294530"/>
          </a:xfrm>
        </p:spPr>
        <p:txBody>
          <a:bodyPr vert="horz" lIns="91440" tIns="45720" rIns="91440" bIns="45720" rtlCol="0" anchor="t">
            <a:noAutofit/>
          </a:bodyPr>
          <a:lstStyle/>
          <a:p>
            <a:pPr marL="285750" indent="-285750">
              <a:buFont typeface="Calibri"/>
              <a:buChar char="-"/>
            </a:pPr>
            <a:r>
              <a:rPr lang="en-US" sz="2000">
                <a:solidFill>
                  <a:schemeClr val="tx1"/>
                </a:solidFill>
              </a:rPr>
              <a:t>Is it a real problem?</a:t>
            </a:r>
            <a:endParaRPr lang="en-US" sz="2000">
              <a:solidFill>
                <a:schemeClr val="tx1"/>
              </a:solidFill>
              <a:ea typeface="Calibri"/>
              <a:cs typeface="Calibri"/>
            </a:endParaRPr>
          </a:p>
          <a:p>
            <a:pPr marL="285750" indent="-285750">
              <a:buFont typeface="Calibri" panose="020B0604020202020204" pitchFamily="34" charset="0"/>
              <a:buChar char="-"/>
            </a:pPr>
            <a:r>
              <a:rPr lang="en-US" sz="2000">
                <a:solidFill>
                  <a:schemeClr val="tx1"/>
                </a:solidFill>
              </a:rPr>
              <a:t>Is it solvable?</a:t>
            </a:r>
            <a:endParaRPr lang="en-US" sz="2000">
              <a:solidFill>
                <a:schemeClr val="tx1"/>
              </a:solidFill>
              <a:ea typeface="Calibri"/>
              <a:cs typeface="Calibri"/>
            </a:endParaRPr>
          </a:p>
          <a:p>
            <a:pPr marL="285750" indent="-285750">
              <a:buFont typeface="Calibri" panose="020B0604020202020204" pitchFamily="34" charset="0"/>
              <a:buChar char="-"/>
            </a:pPr>
            <a:r>
              <a:rPr lang="en-US" sz="2000">
                <a:solidFill>
                  <a:schemeClr val="tx1"/>
                </a:solidFill>
              </a:rPr>
              <a:t>Can AI help?</a:t>
            </a:r>
            <a:endParaRPr lang="en-US" sz="2000">
              <a:solidFill>
                <a:schemeClr val="tx1"/>
              </a:solidFill>
              <a:ea typeface="Calibri"/>
              <a:cs typeface="Calibri"/>
            </a:endParaRPr>
          </a:p>
        </p:txBody>
      </p:sp>
      <p:pic>
        <p:nvPicPr>
          <p:cNvPr id="12" name="Picture Placeholder 11">
            <a:extLst>
              <a:ext uri="{FF2B5EF4-FFF2-40B4-BE49-F238E27FC236}">
                <a16:creationId xmlns:a16="http://schemas.microsoft.com/office/drawing/2014/main" id="{8C4B5C6A-45B4-1976-622A-4CEB4E3211BC}"/>
              </a:ext>
            </a:extLst>
          </p:cNvPr>
          <p:cNvPicPr>
            <a:picLocks noGrp="1" noChangeAspect="1"/>
          </p:cNvPicPr>
          <p:nvPr>
            <p:ph type="pic" sz="quarter" idx="51"/>
          </p:nvPr>
        </p:nvPicPr>
        <p:blipFill rotWithShape="1">
          <a:blip r:embed="rId3">
            <a:extLst>
              <a:ext uri="{837473B0-CC2E-450A-ABE3-18F120FF3D39}">
                <a1611:picAttrSrcUrl xmlns:a1611="http://schemas.microsoft.com/office/drawing/2016/11/main" r:id="rId4"/>
              </a:ext>
            </a:extLst>
          </a:blip>
          <a:srcRect l="18664" r="18664"/>
          <a:stretch/>
        </p:blipFill>
        <p:spPr>
          <a:xfrm>
            <a:off x="7281001" y="1392000"/>
            <a:ext cx="4682999" cy="5358000"/>
          </a:xfrm>
        </p:spPr>
      </p:pic>
      <p:sp>
        <p:nvSpPr>
          <p:cNvPr id="18" name="Footer Placeholder 17">
            <a:extLst>
              <a:ext uri="{FF2B5EF4-FFF2-40B4-BE49-F238E27FC236}">
                <a16:creationId xmlns:a16="http://schemas.microsoft.com/office/drawing/2014/main" id="{59AC624B-4FD9-E308-F182-08902D49A82B}"/>
              </a:ext>
            </a:extLst>
          </p:cNvPr>
          <p:cNvSpPr>
            <a:spLocks noGrp="1"/>
          </p:cNvSpPr>
          <p:nvPr>
            <p:ph type="ftr" sz="quarter" idx="52"/>
          </p:nvPr>
        </p:nvSpPr>
        <p:spPr/>
        <p:txBody>
          <a:bodyPr/>
          <a:lstStyle/>
          <a:p>
            <a:r>
              <a:rPr lang="en-US" err="1"/>
              <a:t>EduConnect</a:t>
            </a:r>
            <a:endParaRPr lang="en-US"/>
          </a:p>
        </p:txBody>
      </p:sp>
      <p:sp>
        <p:nvSpPr>
          <p:cNvPr id="6" name="Freeform: Shape 5">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p:nvSpPr>
        <p:spPr>
          <a:xfrm>
            <a:off x="4584821" y="311581"/>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a:ln>
                <a:noFill/>
              </a:ln>
              <a:solidFill>
                <a:srgbClr val="F7D952"/>
              </a:solidFill>
              <a:effectLst/>
              <a:uLnTx/>
              <a:uFillTx/>
              <a:latin typeface="Posterama Text SemiBold"/>
              <a:ea typeface="+mn-ea"/>
              <a:cs typeface="+mn-cs"/>
            </a:endParaRPr>
          </a:p>
        </p:txBody>
      </p:sp>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rgbClr val="FFFFFF"/>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altLang="zh-CN" sz="1200" u="none" strike="noStrike" kern="1200" cap="none" spc="0" normalizeH="0" baseline="0">
              <a:ln>
                <a:noFill/>
              </a:ln>
              <a:solidFill>
                <a:srgbClr val="FFFFFF"/>
              </a:solidFill>
              <a:effectLst/>
              <a:uLnTx/>
              <a:uFillTx/>
            </a:endParaRPr>
          </a:p>
        </p:txBody>
      </p:sp>
      <p:pic>
        <p:nvPicPr>
          <p:cNvPr id="2" name="Picture 1" descr="A white text on a black background&#10;&#10;Description automatically generated">
            <a:extLst>
              <a:ext uri="{FF2B5EF4-FFF2-40B4-BE49-F238E27FC236}">
                <a16:creationId xmlns:a16="http://schemas.microsoft.com/office/drawing/2014/main" id="{AF0456E9-DDF5-3AC6-A2C3-407D0F640F3B}"/>
              </a:ext>
            </a:extLst>
          </p:cNvPr>
          <p:cNvPicPr>
            <a:picLocks noChangeAspect="1"/>
          </p:cNvPicPr>
          <p:nvPr/>
        </p:nvPicPr>
        <p:blipFill>
          <a:blip r:embed="rId5"/>
          <a:stretch>
            <a:fillRect/>
          </a:stretch>
        </p:blipFill>
        <p:spPr>
          <a:xfrm>
            <a:off x="4159319" y="483868"/>
            <a:ext cx="3702308" cy="3051582"/>
          </a:xfrm>
          <a:prstGeom prst="rect">
            <a:avLst/>
          </a:prstGeom>
        </p:spPr>
      </p:pic>
      <p:sp>
        <p:nvSpPr>
          <p:cNvPr id="3" name="TextBox 2">
            <a:extLst>
              <a:ext uri="{FF2B5EF4-FFF2-40B4-BE49-F238E27FC236}">
                <a16:creationId xmlns:a16="http://schemas.microsoft.com/office/drawing/2014/main" id="{8CE798E4-D92A-7D07-E9C0-1DFC8D016FFD}"/>
              </a:ext>
            </a:extLst>
          </p:cNvPr>
          <p:cNvSpPr txBox="1"/>
          <p:nvPr/>
        </p:nvSpPr>
        <p:spPr>
          <a:xfrm>
            <a:off x="5745163" y="6858000"/>
            <a:ext cx="6446837" cy="317500"/>
          </a:xfrm>
          <a:prstGeom prst="rect">
            <a:avLst/>
          </a:prstGeom>
        </p:spPr>
        <p:txBody>
          <a:bodyPr>
            <a:normAutofit fontScale="92500" lnSpcReduction="20000"/>
          </a:bodyPr>
          <a:lstStyle/>
          <a:p>
            <a:r>
              <a:rPr lang="en-US">
                <a:hlinkClick r:id="rId4"/>
              </a:rPr>
              <a:t>This Photo</a:t>
            </a:r>
            <a:r>
              <a:rPr lang="en-US"/>
              <a:t> by Unknown author is licensed under </a:t>
            </a:r>
            <a:r>
              <a:rPr lang="en-US">
                <a:hlinkClick r:id="rId6"/>
              </a:rPr>
              <a:t>CC BY-NC-ND</a:t>
            </a:r>
            <a:r>
              <a:rPr lang="en-US"/>
              <a:t>.</a:t>
            </a:r>
          </a:p>
        </p:txBody>
      </p:sp>
      <p:sp>
        <p:nvSpPr>
          <p:cNvPr id="8" name="Text Placeholder 19">
            <a:extLst>
              <a:ext uri="{FF2B5EF4-FFF2-40B4-BE49-F238E27FC236}">
                <a16:creationId xmlns:a16="http://schemas.microsoft.com/office/drawing/2014/main" id="{A0AF29D8-A00C-5610-8F8A-64F966A46C42}"/>
              </a:ext>
            </a:extLst>
          </p:cNvPr>
          <p:cNvSpPr txBox="1">
            <a:spLocks/>
          </p:cNvSpPr>
          <p:nvPr/>
        </p:nvSpPr>
        <p:spPr>
          <a:xfrm>
            <a:off x="605860" y="3705054"/>
            <a:ext cx="5760180" cy="1973903"/>
          </a:xfrm>
          <a:prstGeom prst="rect">
            <a:avLst/>
          </a:prstGeom>
        </p:spPr>
        <p:txBody>
          <a:bodyPr vert="horz" lIns="91440" tIns="45720" rIns="91440" bIns="45720" rtlCol="0" anchor="t">
            <a:noAutofit/>
          </a:bodyPr>
          <a:lstStyle>
            <a:lvl1pPr marL="0" indent="0" algn="l" defTabSz="457200" rtl="0" eaLnBrk="1" latinLnBrk="0" hangingPunct="1">
              <a:lnSpc>
                <a:spcPct val="100000"/>
              </a:lnSpc>
              <a:spcBef>
                <a:spcPts val="0"/>
              </a:spcBef>
              <a:spcAft>
                <a:spcPts val="1000"/>
              </a:spcAft>
              <a:buClr>
                <a:schemeClr val="tx1"/>
              </a:buClr>
              <a:buSzPct val="100000"/>
              <a:buFont typeface="Arial"/>
              <a:buNone/>
              <a:defRPr sz="1500" b="0" kern="1200" cap="none">
                <a:solidFill>
                  <a:schemeClr val="bg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0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9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8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8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285750" indent="-285750">
              <a:buFont typeface="Calibri"/>
              <a:buChar char="-"/>
            </a:pPr>
            <a:r>
              <a:rPr lang="en-US" sz="2000">
                <a:solidFill>
                  <a:schemeClr val="tx1"/>
                </a:solidFill>
                <a:ea typeface="Calibri"/>
                <a:cs typeface="Calibri"/>
              </a:rPr>
              <a:t>Students enter advising appts. Without a clear sense of goals and options</a:t>
            </a:r>
          </a:p>
          <a:p>
            <a:pPr marL="285750" indent="-285750">
              <a:buClr>
                <a:srgbClr val="FFFFFF"/>
              </a:buClr>
              <a:buFont typeface="Calibri"/>
              <a:buChar char="-"/>
            </a:pPr>
            <a:r>
              <a:rPr lang="en-US" sz="2000">
                <a:solidFill>
                  <a:schemeClr val="tx1"/>
                </a:solidFill>
                <a:ea typeface="Calibri"/>
                <a:cs typeface="Calibri"/>
              </a:rPr>
              <a:t>Academic advisors often focus on logistics rather than learning outcomes</a:t>
            </a:r>
          </a:p>
          <a:p>
            <a:pPr marL="285750" indent="-285750">
              <a:buClr>
                <a:srgbClr val="FFFFFF"/>
              </a:buClr>
              <a:buFont typeface="Calibri"/>
              <a:buChar char="-"/>
            </a:pPr>
            <a:r>
              <a:rPr lang="en-US" sz="2000">
                <a:solidFill>
                  <a:schemeClr val="tx1"/>
                </a:solidFill>
                <a:ea typeface="Calibri"/>
                <a:cs typeface="Calibri"/>
              </a:rPr>
              <a:t>Students often end up with professors that don't match their learning styles</a:t>
            </a:r>
          </a:p>
          <a:p>
            <a:pPr>
              <a:buClr>
                <a:srgbClr val="FFFFFF"/>
              </a:buClr>
            </a:pPr>
            <a:endParaRPr lang="en-US" sz="2000">
              <a:solidFill>
                <a:schemeClr val="tx1"/>
              </a:solidFill>
              <a:ea typeface="Calibri"/>
              <a:cs typeface="Calibri"/>
            </a:endParaRPr>
          </a:p>
        </p:txBody>
      </p:sp>
      <p:pic>
        <p:nvPicPr>
          <p:cNvPr id="7" name="Picture 6" descr="A cartoon of a person holding a magnifying glass&#10;&#10;Description automatically generated">
            <a:extLst>
              <a:ext uri="{FF2B5EF4-FFF2-40B4-BE49-F238E27FC236}">
                <a16:creationId xmlns:a16="http://schemas.microsoft.com/office/drawing/2014/main" id="{0C933A1C-A037-8D21-AAD8-1DC49839728C}"/>
              </a:ext>
            </a:extLst>
          </p:cNvPr>
          <p:cNvPicPr>
            <a:picLocks noChangeAspect="1"/>
          </p:cNvPicPr>
          <p:nvPr/>
        </p:nvPicPr>
        <p:blipFill>
          <a:blip r:embed="rId7"/>
          <a:stretch>
            <a:fillRect/>
          </a:stretch>
        </p:blipFill>
        <p:spPr>
          <a:xfrm>
            <a:off x="10189941" y="851"/>
            <a:ext cx="2011851" cy="2007594"/>
          </a:xfrm>
          <a:prstGeom prst="rect">
            <a:avLst/>
          </a:prstGeom>
        </p:spPr>
      </p:pic>
    </p:spTree>
    <p:extLst>
      <p:ext uri="{BB962C8B-B14F-4D97-AF65-F5344CB8AC3E}">
        <p14:creationId xmlns:p14="http://schemas.microsoft.com/office/powerpoint/2010/main" val="7755480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36661D0-2B64-5EF7-6E8B-B17AD8EBD551}"/>
              </a:ext>
            </a:extLst>
          </p:cNvPr>
          <p:cNvSpPr txBox="1"/>
          <p:nvPr/>
        </p:nvSpPr>
        <p:spPr>
          <a:xfrm>
            <a:off x="3173568" y="714033"/>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cap="all">
                <a:latin typeface="Calibri"/>
                <a:ea typeface="Calibri"/>
                <a:cs typeface="Calibri Light"/>
              </a:rPr>
              <a:t>The Goal</a:t>
            </a:r>
          </a:p>
        </p:txBody>
      </p:sp>
      <p:sp>
        <p:nvSpPr>
          <p:cNvPr id="12" name="Text Placeholder 42">
            <a:extLst>
              <a:ext uri="{FF2B5EF4-FFF2-40B4-BE49-F238E27FC236}">
                <a16:creationId xmlns:a16="http://schemas.microsoft.com/office/drawing/2014/main" id="{8186CD68-1746-2E9E-1614-0AA56831C2DB}"/>
              </a:ext>
            </a:extLst>
          </p:cNvPr>
          <p:cNvSpPr>
            <a:spLocks noGrp="1"/>
          </p:cNvSpPr>
          <p:nvPr>
            <p:ph type="subTitle" idx="4294967295"/>
          </p:nvPr>
        </p:nvSpPr>
        <p:spPr>
          <a:xfrm>
            <a:off x="3926363" y="1716482"/>
            <a:ext cx="7197725" cy="1404937"/>
          </a:xfrm>
        </p:spPr>
        <p:txBody>
          <a:bodyPr vert="horz" lIns="91440" tIns="45720" rIns="91440" bIns="45720" rtlCol="0" anchor="t">
            <a:noAutofit/>
          </a:bodyPr>
          <a:lstStyle/>
          <a:p>
            <a:pPr marL="0" indent="0">
              <a:buNone/>
            </a:pPr>
            <a:r>
              <a:rPr lang="en-US" sz="2400">
                <a:solidFill>
                  <a:schemeClr val="accent3">
                    <a:lumMod val="40000"/>
                    <a:lumOff val="60000"/>
                  </a:schemeClr>
                </a:solidFill>
                <a:ea typeface="+mn-lt"/>
                <a:cs typeface="+mn-lt"/>
              </a:rPr>
              <a:t>Reducing Uncertainty:</a:t>
            </a:r>
            <a:br>
              <a:rPr lang="en-US" sz="2400">
                <a:solidFill>
                  <a:schemeClr val="accent3">
                    <a:lumMod val="40000"/>
                    <a:lumOff val="60000"/>
                  </a:schemeClr>
                </a:solidFill>
                <a:ea typeface="+mn-lt"/>
                <a:cs typeface="+mn-lt"/>
              </a:rPr>
            </a:br>
            <a:r>
              <a:rPr lang="en-US" sz="2000" b="0">
                <a:ea typeface="+mn-lt"/>
                <a:cs typeface="+mn-lt"/>
              </a:rPr>
              <a:t>Increasing students' confidence </a:t>
            </a:r>
            <a:r>
              <a:rPr lang="en-US" sz="2000" b="0" u="sng">
                <a:ea typeface="+mn-lt"/>
                <a:cs typeface="+mn-lt"/>
              </a:rPr>
              <a:t>early</a:t>
            </a:r>
            <a:r>
              <a:rPr lang="en-US" sz="2000" b="0">
                <a:ea typeface="+mn-lt"/>
                <a:cs typeface="+mn-lt"/>
              </a:rPr>
              <a:t> in their college career...</a:t>
            </a:r>
            <a:endParaRPr lang="en-US" sz="2000">
              <a:cs typeface="Calibri" panose="020F0502020204030204"/>
            </a:endParaRPr>
          </a:p>
          <a:p>
            <a:endParaRPr lang="en-US" sz="1200" b="0">
              <a:solidFill>
                <a:srgbClr val="E3E3E3"/>
              </a:solidFill>
              <a:ea typeface="+mn-lt"/>
              <a:cs typeface="+mn-lt"/>
            </a:endParaRPr>
          </a:p>
          <a:p>
            <a:endParaRPr lang="en-US" sz="2400">
              <a:solidFill>
                <a:srgbClr val="DEB2E6"/>
              </a:solidFill>
              <a:cs typeface="Calibri"/>
            </a:endParaRPr>
          </a:p>
          <a:p>
            <a:pPr marL="342900" indent="-342900">
              <a:buFont typeface="Calibri"/>
              <a:buChar char="-"/>
            </a:pPr>
            <a:endParaRPr lang="en-US" sz="2400">
              <a:solidFill>
                <a:srgbClr val="DEB2E6"/>
              </a:solidFill>
              <a:cs typeface="Calibri"/>
            </a:endParaRPr>
          </a:p>
          <a:p>
            <a:pPr marL="342900" indent="-342900">
              <a:buFont typeface="Calibri"/>
              <a:buChar char="-"/>
            </a:pPr>
            <a:endParaRPr lang="en-US" sz="2400" b="0">
              <a:solidFill>
                <a:srgbClr val="EED8F3"/>
              </a:solidFill>
              <a:cs typeface="Calibri"/>
            </a:endParaRPr>
          </a:p>
        </p:txBody>
      </p:sp>
      <p:sp>
        <p:nvSpPr>
          <p:cNvPr id="6" name="TextBox 5">
            <a:extLst>
              <a:ext uri="{FF2B5EF4-FFF2-40B4-BE49-F238E27FC236}">
                <a16:creationId xmlns:a16="http://schemas.microsoft.com/office/drawing/2014/main" id="{1A94925A-1EFF-BDAE-4DEA-927C17C83BEC}"/>
              </a:ext>
            </a:extLst>
          </p:cNvPr>
          <p:cNvSpPr txBox="1"/>
          <p:nvPr/>
        </p:nvSpPr>
        <p:spPr>
          <a:xfrm>
            <a:off x="5229948" y="2735648"/>
            <a:ext cx="696479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accent3">
                    <a:lumMod val="40000"/>
                    <a:lumOff val="60000"/>
                  </a:schemeClr>
                </a:solidFill>
                <a:ea typeface="+mn-lt"/>
                <a:cs typeface="+mn-lt"/>
              </a:rPr>
              <a:t>Improved Retention:</a:t>
            </a:r>
            <a:r>
              <a:rPr lang="en-US" sz="2400">
                <a:solidFill>
                  <a:srgbClr val="E3E3E3"/>
                </a:solidFill>
                <a:ea typeface="+mn-lt"/>
                <a:cs typeface="+mn-lt"/>
              </a:rPr>
              <a:t> </a:t>
            </a:r>
            <a:endParaRPr lang="en-US">
              <a:solidFill>
                <a:srgbClr val="FFFFFF"/>
              </a:solidFill>
              <a:ea typeface="+mn-lt"/>
              <a:cs typeface="+mn-lt"/>
            </a:endParaRPr>
          </a:p>
          <a:p>
            <a:r>
              <a:rPr lang="en-US" sz="2000">
                <a:solidFill>
                  <a:srgbClr val="E3E3E3"/>
                </a:solidFill>
                <a:ea typeface="+mn-lt"/>
                <a:cs typeface="+mn-lt"/>
              </a:rPr>
              <a:t>Feeling supported </a:t>
            </a:r>
            <a:r>
              <a:rPr lang="en-US" sz="2000">
                <a:solidFill>
                  <a:schemeClr val="accent1">
                    <a:lumMod val="40000"/>
                    <a:lumOff val="60000"/>
                  </a:schemeClr>
                </a:solidFill>
                <a:ea typeface="+mn-lt"/>
                <a:cs typeface="+mn-lt"/>
              </a:rPr>
              <a:t>→</a:t>
            </a:r>
            <a:r>
              <a:rPr lang="en-US" sz="2000">
                <a:solidFill>
                  <a:srgbClr val="E3E3E3"/>
                </a:solidFill>
                <a:ea typeface="+mn-lt"/>
                <a:cs typeface="+mn-lt"/>
              </a:rPr>
              <a:t> thriving in learning environment </a:t>
            </a:r>
            <a:endParaRPr lang="en-US" sz="2000">
              <a:solidFill>
                <a:srgbClr val="FFFFFF"/>
              </a:solidFill>
              <a:ea typeface="+mn-lt"/>
              <a:cs typeface="+mn-lt"/>
            </a:endParaRPr>
          </a:p>
          <a:p>
            <a:r>
              <a:rPr lang="en-US" sz="2000">
                <a:solidFill>
                  <a:srgbClr val="E3E3E3"/>
                </a:solidFill>
                <a:ea typeface="+mn-lt"/>
                <a:cs typeface="+mn-lt"/>
              </a:rPr>
              <a:t> </a:t>
            </a:r>
            <a:r>
              <a:rPr lang="en-US" sz="2000">
                <a:solidFill>
                  <a:schemeClr val="accent1">
                    <a:lumMod val="40000"/>
                    <a:lumOff val="60000"/>
                  </a:schemeClr>
                </a:solidFill>
                <a:ea typeface="+mn-lt"/>
                <a:cs typeface="+mn-lt"/>
              </a:rPr>
              <a:t>→ </a:t>
            </a:r>
            <a:r>
              <a:rPr lang="en-US" sz="2000">
                <a:solidFill>
                  <a:srgbClr val="E3E3E3"/>
                </a:solidFill>
                <a:ea typeface="+mn-lt"/>
                <a:cs typeface="+mn-lt"/>
              </a:rPr>
              <a:t>more likely to persist through educational</a:t>
            </a:r>
            <a:endParaRPr lang="en-US" sz="2000">
              <a:solidFill>
                <a:srgbClr val="FFFFFF"/>
              </a:solidFill>
              <a:ea typeface="+mn-lt"/>
              <a:cs typeface="+mn-lt"/>
            </a:endParaRPr>
          </a:p>
          <a:p>
            <a:r>
              <a:rPr lang="en-US" sz="2000">
                <a:solidFill>
                  <a:srgbClr val="E3E3E3"/>
                </a:solidFill>
                <a:ea typeface="+mn-lt"/>
                <a:cs typeface="+mn-lt"/>
              </a:rPr>
              <a:t> challenges and complete degree program</a:t>
            </a:r>
            <a:endParaRPr lang="en-US" sz="2000">
              <a:ea typeface="Calibri"/>
              <a:cs typeface="Calibri"/>
            </a:endParaRPr>
          </a:p>
        </p:txBody>
      </p:sp>
      <p:pic>
        <p:nvPicPr>
          <p:cNvPr id="9" name="Picture 8" descr="Home - UNC Advising">
            <a:extLst>
              <a:ext uri="{FF2B5EF4-FFF2-40B4-BE49-F238E27FC236}">
                <a16:creationId xmlns:a16="http://schemas.microsoft.com/office/drawing/2014/main" id="{83D20FB4-B24A-927D-2E4D-33128DFF0A92}"/>
              </a:ext>
            </a:extLst>
          </p:cNvPr>
          <p:cNvPicPr>
            <a:picLocks noChangeAspect="1"/>
          </p:cNvPicPr>
          <p:nvPr/>
        </p:nvPicPr>
        <p:blipFill>
          <a:blip r:embed="rId3"/>
          <a:stretch>
            <a:fillRect/>
          </a:stretch>
        </p:blipFill>
        <p:spPr>
          <a:xfrm>
            <a:off x="170543" y="1948543"/>
            <a:ext cx="3124199" cy="3124199"/>
          </a:xfrm>
          <a:prstGeom prst="rect">
            <a:avLst/>
          </a:prstGeom>
        </p:spPr>
      </p:pic>
      <p:sp>
        <p:nvSpPr>
          <p:cNvPr id="2" name="TextBox 1">
            <a:extLst>
              <a:ext uri="{FF2B5EF4-FFF2-40B4-BE49-F238E27FC236}">
                <a16:creationId xmlns:a16="http://schemas.microsoft.com/office/drawing/2014/main" id="{CDE07BAA-1D1D-C569-DECD-2EACA79AB418}"/>
              </a:ext>
            </a:extLst>
          </p:cNvPr>
          <p:cNvSpPr txBox="1"/>
          <p:nvPr/>
        </p:nvSpPr>
        <p:spPr>
          <a:xfrm>
            <a:off x="3929029" y="4424049"/>
            <a:ext cx="6225039"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accent3">
                    <a:lumMod val="40000"/>
                    <a:lumOff val="60000"/>
                  </a:schemeClr>
                </a:solidFill>
                <a:latin typeface="Calibri"/>
                <a:cs typeface="Calibri"/>
              </a:rPr>
              <a:t>Ultimately </a:t>
            </a:r>
            <a:r>
              <a:rPr lang="en-US" sz="2400">
                <a:latin typeface="Calibri"/>
                <a:cs typeface="Calibri"/>
              </a:rPr>
              <a:t>narrowing the gap</a:t>
            </a:r>
            <a:r>
              <a:rPr lang="en-US" sz="2400">
                <a:solidFill>
                  <a:schemeClr val="accent3">
                    <a:lumMod val="40000"/>
                    <a:lumOff val="60000"/>
                  </a:schemeClr>
                </a:solidFill>
                <a:latin typeface="Calibri"/>
                <a:cs typeface="Calibri"/>
              </a:rPr>
              <a:t> between college students with prior coaching and experience  and those who may have received less support and exposure before university</a:t>
            </a:r>
            <a:endParaRPr lang="en-US">
              <a:solidFill>
                <a:schemeClr val="accent3">
                  <a:lumMod val="40000"/>
                  <a:lumOff val="60000"/>
                </a:schemeClr>
              </a:solidFill>
            </a:endParaRPr>
          </a:p>
        </p:txBody>
      </p:sp>
      <p:sp>
        <p:nvSpPr>
          <p:cNvPr id="4" name="Slide Number Placeholder 13">
            <a:extLst>
              <a:ext uri="{FF2B5EF4-FFF2-40B4-BE49-F238E27FC236}">
                <a16:creationId xmlns:a16="http://schemas.microsoft.com/office/drawing/2014/main" id="{8FBC4AEB-0F2B-0838-7C42-865C01E50D0E}"/>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rgbClr val="FFFFFF"/>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altLang="zh-CN" sz="1200" u="none" strike="noStrike" kern="1200" cap="none" spc="0" normalizeH="0" baseline="0">
              <a:ln>
                <a:noFill/>
              </a:ln>
              <a:solidFill>
                <a:srgbClr val="FFFFFF"/>
              </a:solidFill>
              <a:effectLst/>
              <a:uLnTx/>
              <a:uFillTx/>
            </a:endParaRPr>
          </a:p>
        </p:txBody>
      </p:sp>
    </p:spTree>
    <p:extLst>
      <p:ext uri="{BB962C8B-B14F-4D97-AF65-F5344CB8AC3E}">
        <p14:creationId xmlns:p14="http://schemas.microsoft.com/office/powerpoint/2010/main" val="2151945598"/>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 Placeholder 42">
            <a:extLst>
              <a:ext uri="{FF2B5EF4-FFF2-40B4-BE49-F238E27FC236}">
                <a16:creationId xmlns:a16="http://schemas.microsoft.com/office/drawing/2014/main" id="{520E98B6-7B33-8FD4-A662-31DD4B85E22E}"/>
              </a:ext>
            </a:extLst>
          </p:cNvPr>
          <p:cNvSpPr>
            <a:spLocks noGrp="1"/>
          </p:cNvSpPr>
          <p:nvPr>
            <p:ph type="body" sz="quarter" idx="27"/>
          </p:nvPr>
        </p:nvSpPr>
        <p:spPr>
          <a:xfrm>
            <a:off x="4550705" y="3935042"/>
            <a:ext cx="6865464" cy="2279103"/>
          </a:xfrm>
        </p:spPr>
        <p:txBody>
          <a:bodyPr vert="horz" lIns="91440" tIns="45720" rIns="91440" bIns="45720" rtlCol="0" anchor="t">
            <a:noAutofit/>
          </a:bodyPr>
          <a:lstStyle/>
          <a:p>
            <a:pPr marL="342900" indent="-342900">
              <a:buFont typeface="+mj-lt"/>
              <a:buAutoNum type="arabicPeriod"/>
            </a:pPr>
            <a:r>
              <a:rPr lang="en-US" sz="2000">
                <a:solidFill>
                  <a:schemeClr val="tx1"/>
                </a:solidFill>
              </a:rPr>
              <a:t>Incorporates student preferences</a:t>
            </a:r>
          </a:p>
          <a:p>
            <a:pPr marL="342900" indent="-342900">
              <a:buFont typeface="+mj-lt"/>
              <a:buAutoNum type="arabicPeriod"/>
            </a:pPr>
            <a:r>
              <a:rPr lang="en-US" sz="2000">
                <a:solidFill>
                  <a:schemeClr val="tx1"/>
                </a:solidFill>
              </a:rPr>
              <a:t>Manages student schedule while recommending most compatible professors</a:t>
            </a:r>
            <a:endParaRPr lang="en-US" sz="2000">
              <a:solidFill>
                <a:schemeClr val="tx1"/>
              </a:solidFill>
              <a:ea typeface="Calibri"/>
              <a:cs typeface="Calibri"/>
            </a:endParaRPr>
          </a:p>
          <a:p>
            <a:pPr marL="342900" indent="-342900">
              <a:buFont typeface="+mj-lt"/>
              <a:buAutoNum type="arabicPeriod"/>
            </a:pPr>
            <a:r>
              <a:rPr lang="en-US" sz="2000">
                <a:solidFill>
                  <a:schemeClr val="tx1"/>
                </a:solidFill>
              </a:rPr>
              <a:t>Saves administrative time to focus on helping students with major problems</a:t>
            </a:r>
          </a:p>
        </p:txBody>
      </p:sp>
      <p:sp>
        <p:nvSpPr>
          <p:cNvPr id="35" name="Text Placeholder 34">
            <a:extLst>
              <a:ext uri="{FF2B5EF4-FFF2-40B4-BE49-F238E27FC236}">
                <a16:creationId xmlns:a16="http://schemas.microsoft.com/office/drawing/2014/main" id="{2C8E94EA-2767-D144-C1BB-32AA2C99723B}"/>
              </a:ext>
            </a:extLst>
          </p:cNvPr>
          <p:cNvSpPr>
            <a:spLocks noGrp="1"/>
          </p:cNvSpPr>
          <p:nvPr>
            <p:ph type="body" sz="quarter" idx="28"/>
          </p:nvPr>
        </p:nvSpPr>
        <p:spPr>
          <a:xfrm>
            <a:off x="4545141" y="3212080"/>
            <a:ext cx="6643463" cy="587964"/>
          </a:xfrm>
        </p:spPr>
        <p:txBody>
          <a:bodyPr/>
          <a:lstStyle/>
          <a:p>
            <a:pPr algn="ctr"/>
            <a:r>
              <a:rPr lang="en-US" sz="2400">
                <a:solidFill>
                  <a:schemeClr val="tx1"/>
                </a:solidFill>
              </a:rPr>
              <a:t>Stakeholder Centric Approach – How it Works</a:t>
            </a:r>
          </a:p>
        </p:txBody>
      </p:sp>
      <p:pic>
        <p:nvPicPr>
          <p:cNvPr id="26" name="Picture Placeholder 25" descr="Layout of website design sketches on white paper">
            <a:extLst>
              <a:ext uri="{FF2B5EF4-FFF2-40B4-BE49-F238E27FC236}">
                <a16:creationId xmlns:a16="http://schemas.microsoft.com/office/drawing/2014/main" id="{4CBFAFCC-A306-4EA1-BEE3-7557795635A8}"/>
              </a:ext>
            </a:extLst>
          </p:cNvPr>
          <p:cNvPicPr>
            <a:picLocks noGrp="1" noChangeAspect="1"/>
          </p:cNvPicPr>
          <p:nvPr>
            <p:ph type="pic" sz="quarter" idx="51"/>
          </p:nvPr>
        </p:nvPicPr>
        <p:blipFill>
          <a:blip r:embed="rId3" cstate="print">
            <a:extLst>
              <a:ext uri="{28A0092B-C50C-407E-A947-70E740481C1C}">
                <a14:useLocalDpi xmlns:a14="http://schemas.microsoft.com/office/drawing/2010/main"/>
              </a:ext>
            </a:extLst>
          </a:blip>
          <a:srcRect t="14" b="14"/>
          <a:stretch/>
        </p:blipFill>
        <p:spPr/>
      </p:pic>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4317099" y="1702002"/>
            <a:ext cx="6833034" cy="1314439"/>
          </a:xfrm>
        </p:spPr>
        <p:txBody>
          <a:bodyPr/>
          <a:lstStyle/>
          <a:p>
            <a:r>
              <a:rPr lang="en-US"/>
              <a:t>Our solution focuses on saving time and resources</a:t>
            </a:r>
            <a:br>
              <a:rPr lang="en-US"/>
            </a:br>
            <a:r>
              <a:rPr lang="en-US">
                <a:solidFill>
                  <a:schemeClr val="accent1">
                    <a:lumMod val="40000"/>
                    <a:lumOff val="60000"/>
                  </a:schemeClr>
                </a:solidFill>
              </a:rPr>
              <a:t>in academic planning and student management.  </a:t>
            </a:r>
            <a:r>
              <a:rPr lang="en-US"/>
              <a:t>  </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rgbClr val="FFFFFF"/>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altLang="zh-CN" sz="1200" u="none" strike="noStrike" kern="1200" cap="none" spc="0" normalizeH="0" baseline="0">
              <a:ln>
                <a:noFill/>
              </a:ln>
              <a:solidFill>
                <a:srgbClr val="FFFFFF"/>
              </a:solidFill>
              <a:effectLst/>
              <a:uLnTx/>
              <a:uFillTx/>
            </a:endParaRPr>
          </a:p>
        </p:txBody>
      </p:sp>
      <p:pic>
        <p:nvPicPr>
          <p:cNvPr id="3" name="Picture 2" descr="A cartoon of a person holding a magnifying glass&#10;&#10;Description automatically generated">
            <a:extLst>
              <a:ext uri="{FF2B5EF4-FFF2-40B4-BE49-F238E27FC236}">
                <a16:creationId xmlns:a16="http://schemas.microsoft.com/office/drawing/2014/main" id="{D720D901-64AB-E4E9-75D9-44BCEFF2913D}"/>
              </a:ext>
            </a:extLst>
          </p:cNvPr>
          <p:cNvPicPr>
            <a:picLocks noChangeAspect="1"/>
          </p:cNvPicPr>
          <p:nvPr/>
        </p:nvPicPr>
        <p:blipFill>
          <a:blip r:embed="rId4"/>
          <a:stretch>
            <a:fillRect/>
          </a:stretch>
        </p:blipFill>
        <p:spPr>
          <a:xfrm>
            <a:off x="10189941" y="851"/>
            <a:ext cx="2011851" cy="2007594"/>
          </a:xfrm>
          <a:prstGeom prst="rect">
            <a:avLst/>
          </a:prstGeom>
        </p:spPr>
      </p:pic>
    </p:spTree>
    <p:extLst>
      <p:ext uri="{BB962C8B-B14F-4D97-AF65-F5344CB8AC3E}">
        <p14:creationId xmlns:p14="http://schemas.microsoft.com/office/powerpoint/2010/main" val="4182148033"/>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Clipart - 95 score">
            <a:extLst>
              <a:ext uri="{FF2B5EF4-FFF2-40B4-BE49-F238E27FC236}">
                <a16:creationId xmlns:a16="http://schemas.microsoft.com/office/drawing/2014/main" id="{1F1E82B5-BDF6-F9E0-C7CF-3E0F81D2E7CD}"/>
              </a:ext>
            </a:extLst>
          </p:cNvPr>
          <p:cNvPicPr>
            <a:picLocks noGrp="1" noChangeAspect="1"/>
          </p:cNvPicPr>
          <p:nvPr>
            <p:ph type="pic" sz="quarter" idx="51"/>
          </p:nvPr>
        </p:nvPicPr>
        <p:blipFill>
          <a:blip r:embed="rId3"/>
          <a:srcRect l="22107" r="22107"/>
          <a:stretch/>
        </p:blipFill>
        <p:spPr>
          <a:xfrm>
            <a:off x="1788170" y="2296125"/>
            <a:ext cx="1886360" cy="2144668"/>
          </a:xfrm>
        </p:spPr>
      </p:pic>
      <p:sp>
        <p:nvSpPr>
          <p:cNvPr id="5" name="Title 4">
            <a:extLst>
              <a:ext uri="{FF2B5EF4-FFF2-40B4-BE49-F238E27FC236}">
                <a16:creationId xmlns:a16="http://schemas.microsoft.com/office/drawing/2014/main" id="{09190AFE-A32E-2C44-E8EC-9AD5E42A8ECE}"/>
              </a:ext>
            </a:extLst>
          </p:cNvPr>
          <p:cNvSpPr>
            <a:spLocks noGrp="1"/>
          </p:cNvSpPr>
          <p:nvPr>
            <p:ph type="title"/>
          </p:nvPr>
        </p:nvSpPr>
        <p:spPr>
          <a:xfrm>
            <a:off x="4418704" y="56656"/>
            <a:ext cx="6599429" cy="1325563"/>
          </a:xfrm>
        </p:spPr>
        <p:txBody>
          <a:bodyPr/>
          <a:lstStyle/>
          <a:p>
            <a:r>
              <a:rPr lang="en-US">
                <a:ea typeface="Calibri Light"/>
                <a:cs typeface="Calibri Light"/>
              </a:rPr>
              <a:t>Proof of concept</a:t>
            </a:r>
            <a:endParaRPr lang="en-US"/>
          </a:p>
        </p:txBody>
      </p:sp>
      <p:pic>
        <p:nvPicPr>
          <p:cNvPr id="9" name="Picture 8" descr="A cartoon of a person holding a magnifying glass&#10;&#10;Description automatically generated">
            <a:extLst>
              <a:ext uri="{FF2B5EF4-FFF2-40B4-BE49-F238E27FC236}">
                <a16:creationId xmlns:a16="http://schemas.microsoft.com/office/drawing/2014/main" id="{BA2DB33A-D1C5-B4CF-9D79-EDBFA46E9AF9}"/>
              </a:ext>
            </a:extLst>
          </p:cNvPr>
          <p:cNvPicPr>
            <a:picLocks noChangeAspect="1"/>
          </p:cNvPicPr>
          <p:nvPr/>
        </p:nvPicPr>
        <p:blipFill>
          <a:blip r:embed="rId4"/>
          <a:stretch>
            <a:fillRect/>
          </a:stretch>
        </p:blipFill>
        <p:spPr>
          <a:xfrm>
            <a:off x="10189941" y="851"/>
            <a:ext cx="2011851" cy="2007594"/>
          </a:xfrm>
          <a:prstGeom prst="rect">
            <a:avLst/>
          </a:prstGeom>
        </p:spPr>
      </p:pic>
      <p:pic>
        <p:nvPicPr>
          <p:cNvPr id="11" name="Picture 10" descr="A piece of paper with writing on it&#10;&#10;Description automatically generated">
            <a:extLst>
              <a:ext uri="{FF2B5EF4-FFF2-40B4-BE49-F238E27FC236}">
                <a16:creationId xmlns:a16="http://schemas.microsoft.com/office/drawing/2014/main" id="{3DEB9550-C2D1-F277-6277-EA07FA27C3B4}"/>
              </a:ext>
            </a:extLst>
          </p:cNvPr>
          <p:cNvPicPr>
            <a:picLocks noChangeAspect="1"/>
          </p:cNvPicPr>
          <p:nvPr/>
        </p:nvPicPr>
        <p:blipFill rotWithShape="1">
          <a:blip r:embed="rId5"/>
          <a:srcRect l="3890" r="3661" b="3963"/>
          <a:stretch/>
        </p:blipFill>
        <p:spPr>
          <a:xfrm rot="5400000">
            <a:off x="3836658" y="2276039"/>
            <a:ext cx="4876520" cy="3801045"/>
          </a:xfrm>
          <a:prstGeom prst="rect">
            <a:avLst/>
          </a:prstGeom>
        </p:spPr>
      </p:pic>
      <p:pic>
        <p:nvPicPr>
          <p:cNvPr id="14" name="Picture 13" descr="A piece of paper with writing on it&#10;&#10;Description automatically generated">
            <a:extLst>
              <a:ext uri="{FF2B5EF4-FFF2-40B4-BE49-F238E27FC236}">
                <a16:creationId xmlns:a16="http://schemas.microsoft.com/office/drawing/2014/main" id="{D948EFD5-3AA6-8F4E-A02B-921E1C1C1721}"/>
              </a:ext>
            </a:extLst>
          </p:cNvPr>
          <p:cNvPicPr>
            <a:picLocks noChangeAspect="1"/>
          </p:cNvPicPr>
          <p:nvPr/>
        </p:nvPicPr>
        <p:blipFill>
          <a:blip r:embed="rId6"/>
          <a:stretch>
            <a:fillRect/>
          </a:stretch>
        </p:blipFill>
        <p:spPr>
          <a:xfrm>
            <a:off x="8170097" y="1719675"/>
            <a:ext cx="3716396" cy="4923837"/>
          </a:xfrm>
          <a:prstGeom prst="rect">
            <a:avLst/>
          </a:prstGeom>
        </p:spPr>
      </p:pic>
      <p:pic>
        <p:nvPicPr>
          <p:cNvPr id="3" name="Picture Placeholder 25" descr="Layout of website design sketches on white paper">
            <a:extLst>
              <a:ext uri="{FF2B5EF4-FFF2-40B4-BE49-F238E27FC236}">
                <a16:creationId xmlns:a16="http://schemas.microsoft.com/office/drawing/2014/main" id="{71A41A48-55B0-37D7-8B02-1E67F8EC497B}"/>
              </a:ext>
            </a:extLst>
          </p:cNvPr>
          <p:cNvPicPr>
            <a:picLocks noChangeAspect="1"/>
          </p:cNvPicPr>
          <p:nvPr/>
        </p:nvPicPr>
        <p:blipFill>
          <a:blip r:embed="rId7" cstate="print">
            <a:extLst>
              <a:ext uri="{28A0092B-C50C-407E-A947-70E740481C1C}">
                <a14:useLocalDpi xmlns:a14="http://schemas.microsoft.com/office/drawing/2010/main"/>
              </a:ext>
            </a:extLst>
          </a:blip>
          <a:srcRect t="14" b="14"/>
          <a:stretch/>
        </p:blipFill>
        <p:spPr>
          <a:xfrm>
            <a:off x="1784570" y="22985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pic>
    </p:spTree>
    <p:extLst>
      <p:ext uri="{BB962C8B-B14F-4D97-AF65-F5344CB8AC3E}">
        <p14:creationId xmlns:p14="http://schemas.microsoft.com/office/powerpoint/2010/main" val="865459300"/>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 Placeholder 42">
            <a:extLst>
              <a:ext uri="{FF2B5EF4-FFF2-40B4-BE49-F238E27FC236}">
                <a16:creationId xmlns:a16="http://schemas.microsoft.com/office/drawing/2014/main" id="{520E98B6-7B33-8FD4-A662-31DD4B85E22E}"/>
              </a:ext>
            </a:extLst>
          </p:cNvPr>
          <p:cNvSpPr>
            <a:spLocks noGrp="1"/>
          </p:cNvSpPr>
          <p:nvPr>
            <p:ph type="body" sz="quarter" idx="27"/>
          </p:nvPr>
        </p:nvSpPr>
        <p:spPr>
          <a:xfrm>
            <a:off x="4550705" y="3366587"/>
            <a:ext cx="6643464" cy="1727103"/>
          </a:xfrm>
        </p:spPr>
        <p:txBody>
          <a:bodyPr vert="horz" lIns="91440" tIns="45720" rIns="91440" bIns="45720" rtlCol="0" anchor="t">
            <a:noAutofit/>
          </a:bodyPr>
          <a:lstStyle/>
          <a:p>
            <a:pPr marL="342900" indent="-342900">
              <a:buFont typeface="+mj-lt"/>
              <a:buAutoNum type="arabicPeriod"/>
            </a:pPr>
            <a:r>
              <a:rPr lang="en-US" sz="2000">
                <a:solidFill>
                  <a:schemeClr val="tx1"/>
                </a:solidFill>
              </a:rPr>
              <a:t>Utilizes a large language model to process each review for each professor</a:t>
            </a:r>
          </a:p>
          <a:p>
            <a:pPr marL="342900" indent="-342900">
              <a:buFont typeface="+mj-lt"/>
              <a:buAutoNum type="arabicPeriod"/>
            </a:pPr>
            <a:r>
              <a:rPr lang="en-US" sz="2000">
                <a:solidFill>
                  <a:schemeClr val="tx1"/>
                </a:solidFill>
              </a:rPr>
              <a:t>Determines a compatibility rank based off predetermined parameters, weighted with an algorithm</a:t>
            </a:r>
          </a:p>
          <a:p>
            <a:pPr marL="342900" indent="-342900">
              <a:buFont typeface="+mj-lt"/>
              <a:buAutoNum type="arabicPeriod"/>
            </a:pPr>
            <a:r>
              <a:rPr lang="en-US" sz="2000">
                <a:solidFill>
                  <a:schemeClr val="tx1"/>
                </a:solidFill>
              </a:rPr>
              <a:t>Analyzes students schedule and optimizes compatible professors with the student’s schedule</a:t>
            </a:r>
          </a:p>
        </p:txBody>
      </p:sp>
      <p:sp>
        <p:nvSpPr>
          <p:cNvPr id="35" name="Text Placeholder 34">
            <a:extLst>
              <a:ext uri="{FF2B5EF4-FFF2-40B4-BE49-F238E27FC236}">
                <a16:creationId xmlns:a16="http://schemas.microsoft.com/office/drawing/2014/main" id="{2C8E94EA-2767-D144-C1BB-32AA2C99723B}"/>
              </a:ext>
            </a:extLst>
          </p:cNvPr>
          <p:cNvSpPr>
            <a:spLocks noGrp="1"/>
          </p:cNvSpPr>
          <p:nvPr>
            <p:ph type="body" sz="quarter" idx="28"/>
          </p:nvPr>
        </p:nvSpPr>
        <p:spPr>
          <a:xfrm>
            <a:off x="4550703" y="2594429"/>
            <a:ext cx="6643463" cy="587964"/>
          </a:xfrm>
        </p:spPr>
        <p:txBody>
          <a:bodyPr/>
          <a:lstStyle/>
          <a:p>
            <a:pPr algn="ctr"/>
            <a:r>
              <a:rPr lang="en-US" sz="2400">
                <a:solidFill>
                  <a:schemeClr val="tx1"/>
                </a:solidFill>
              </a:rPr>
              <a:t>Incorporation of AI</a:t>
            </a:r>
          </a:p>
        </p:txBody>
      </p:sp>
      <p:pic>
        <p:nvPicPr>
          <p:cNvPr id="26" name="Picture Placeholder 25" descr="Layout of website design sketches on white paper">
            <a:extLst>
              <a:ext uri="{FF2B5EF4-FFF2-40B4-BE49-F238E27FC236}">
                <a16:creationId xmlns:a16="http://schemas.microsoft.com/office/drawing/2014/main" id="{4CBFAFCC-A306-4EA1-BEE3-7557795635A8}"/>
              </a:ext>
            </a:extLst>
          </p:cNvPr>
          <p:cNvPicPr>
            <a:picLocks noGrp="1" noChangeAspect="1"/>
          </p:cNvPicPr>
          <p:nvPr>
            <p:ph type="pic" sz="quarter" idx="51"/>
          </p:nvPr>
        </p:nvPicPr>
        <p:blipFill>
          <a:blip r:embed="rId3" cstate="print">
            <a:extLst>
              <a:ext uri="{28A0092B-C50C-407E-A947-70E740481C1C}">
                <a14:useLocalDpi xmlns:a14="http://schemas.microsoft.com/office/drawing/2010/main"/>
              </a:ext>
            </a:extLst>
          </a:blip>
          <a:srcRect t="14" b="14"/>
          <a:stretch/>
        </p:blipFill>
        <p:spPr/>
      </p:pic>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3897561" y="883521"/>
            <a:ext cx="6599429" cy="1325563"/>
          </a:xfrm>
        </p:spPr>
        <p:txBody>
          <a:bodyPr/>
          <a:lstStyle/>
          <a:p>
            <a:r>
              <a:rPr lang="en-US">
                <a:ea typeface="Calibri Light"/>
                <a:cs typeface="Calibri Light"/>
              </a:rPr>
              <a:t>Utilizing LLMs and </a:t>
            </a:r>
            <a:r>
              <a:rPr lang="en-US" err="1">
                <a:ea typeface="Calibri Light"/>
                <a:cs typeface="Calibri Light"/>
              </a:rPr>
              <a:t>webscraped</a:t>
            </a:r>
            <a:r>
              <a:rPr lang="en-US">
                <a:ea typeface="Calibri Light"/>
                <a:cs typeface="Calibri Light"/>
              </a:rPr>
              <a:t> data to determine compatibility</a:t>
            </a:r>
            <a:endParaRPr lang="en-US"/>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rgbClr val="FFFFFF"/>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a:ln>
                <a:noFill/>
              </a:ln>
              <a:solidFill>
                <a:srgbClr val="FFFFFF"/>
              </a:solidFill>
              <a:effectLst/>
              <a:uLnTx/>
              <a:uFillTx/>
            </a:endParaRPr>
          </a:p>
        </p:txBody>
      </p:sp>
      <p:pic>
        <p:nvPicPr>
          <p:cNvPr id="2" name="Picture 1" descr="A cartoon of a person holding a magnifying glass&#10;&#10;Description automatically generated">
            <a:extLst>
              <a:ext uri="{FF2B5EF4-FFF2-40B4-BE49-F238E27FC236}">
                <a16:creationId xmlns:a16="http://schemas.microsoft.com/office/drawing/2014/main" id="{E722F396-9692-9FF7-6D40-AE89A27434E8}"/>
              </a:ext>
            </a:extLst>
          </p:cNvPr>
          <p:cNvPicPr>
            <a:picLocks noChangeAspect="1"/>
          </p:cNvPicPr>
          <p:nvPr/>
        </p:nvPicPr>
        <p:blipFill>
          <a:blip r:embed="rId4"/>
          <a:stretch>
            <a:fillRect/>
          </a:stretch>
        </p:blipFill>
        <p:spPr>
          <a:xfrm>
            <a:off x="10202525" y="0"/>
            <a:ext cx="1989475" cy="1985265"/>
          </a:xfrm>
          <a:prstGeom prst="rect">
            <a:avLst/>
          </a:prstGeom>
        </p:spPr>
      </p:pic>
    </p:spTree>
    <p:extLst>
      <p:ext uri="{BB962C8B-B14F-4D97-AF65-F5344CB8AC3E}">
        <p14:creationId xmlns:p14="http://schemas.microsoft.com/office/powerpoint/2010/main" val="399929038"/>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 Placeholder 49">
            <a:extLst>
              <a:ext uri="{FF2B5EF4-FFF2-40B4-BE49-F238E27FC236}">
                <a16:creationId xmlns:a16="http://schemas.microsoft.com/office/drawing/2014/main" id="{0532F467-8DBE-D445-0CF7-D5D242DAD663}"/>
              </a:ext>
            </a:extLst>
          </p:cNvPr>
          <p:cNvSpPr>
            <a:spLocks noGrp="1"/>
          </p:cNvSpPr>
          <p:nvPr>
            <p:ph type="body" sz="quarter" idx="32"/>
          </p:nvPr>
        </p:nvSpPr>
        <p:spPr>
          <a:xfrm>
            <a:off x="717200" y="3361823"/>
            <a:ext cx="1865376" cy="2464293"/>
          </a:xfrm>
        </p:spPr>
        <p:txBody>
          <a:bodyPr vert="horz" lIns="91440" tIns="219456" rIns="91440" bIns="45720" rtlCol="0" anchor="t">
            <a:noAutofit/>
          </a:bodyPr>
          <a:lstStyle/>
          <a:p>
            <a:r>
              <a:rPr lang="en-US">
                <a:solidFill>
                  <a:schemeClr val="tx1"/>
                </a:solidFill>
              </a:rPr>
              <a:t>Make web application available to everyone with a Northeastern student email.</a:t>
            </a:r>
          </a:p>
          <a:p>
            <a:r>
              <a:rPr lang="en-US">
                <a:solidFill>
                  <a:schemeClr val="tx1"/>
                </a:solidFill>
              </a:rPr>
              <a:t>Integrate other planned functionality.</a:t>
            </a:r>
          </a:p>
        </p:txBody>
      </p:sp>
      <p:sp>
        <p:nvSpPr>
          <p:cNvPr id="54" name="Text Placeholder 53">
            <a:extLst>
              <a:ext uri="{FF2B5EF4-FFF2-40B4-BE49-F238E27FC236}">
                <a16:creationId xmlns:a16="http://schemas.microsoft.com/office/drawing/2014/main" id="{DDCD388C-8374-D810-DCE5-554B7E05F55A}"/>
              </a:ext>
            </a:extLst>
          </p:cNvPr>
          <p:cNvSpPr>
            <a:spLocks noGrp="1"/>
          </p:cNvSpPr>
          <p:nvPr>
            <p:ph type="body" sz="quarter" idx="51"/>
          </p:nvPr>
        </p:nvSpPr>
        <p:spPr>
          <a:xfrm>
            <a:off x="7233633" y="3355823"/>
            <a:ext cx="2003376" cy="2464293"/>
          </a:xfrm>
        </p:spPr>
        <p:txBody>
          <a:bodyPr vert="horz" lIns="91440" tIns="219456" rIns="91440" bIns="45720" rtlCol="0" anchor="t">
            <a:noAutofit/>
          </a:bodyPr>
          <a:lstStyle/>
          <a:p>
            <a:r>
              <a:rPr lang="en-US">
                <a:solidFill>
                  <a:schemeClr val="tx1"/>
                </a:solidFill>
              </a:rPr>
              <a:t>Market the product to other universities to maximize users.</a:t>
            </a:r>
          </a:p>
        </p:txBody>
      </p:sp>
      <p:sp>
        <p:nvSpPr>
          <p:cNvPr id="56" name="Text Placeholder 55">
            <a:extLst>
              <a:ext uri="{FF2B5EF4-FFF2-40B4-BE49-F238E27FC236}">
                <a16:creationId xmlns:a16="http://schemas.microsoft.com/office/drawing/2014/main" id="{E62055F1-67DB-9D6D-ABE2-20C3B2514A43}"/>
              </a:ext>
            </a:extLst>
          </p:cNvPr>
          <p:cNvSpPr>
            <a:spLocks noGrp="1"/>
          </p:cNvSpPr>
          <p:nvPr>
            <p:ph type="body" sz="quarter" idx="52"/>
          </p:nvPr>
        </p:nvSpPr>
        <p:spPr>
          <a:xfrm>
            <a:off x="5073569" y="3366406"/>
            <a:ext cx="1865376" cy="2464293"/>
          </a:xfrm>
        </p:spPr>
        <p:txBody>
          <a:bodyPr vert="horz" lIns="91440" tIns="219456" rIns="91440" bIns="45720" rtlCol="0" anchor="t">
            <a:noAutofit/>
          </a:bodyPr>
          <a:lstStyle/>
          <a:p>
            <a:r>
              <a:rPr lang="en-US">
                <a:solidFill>
                  <a:schemeClr val="tx1"/>
                </a:solidFill>
              </a:rPr>
              <a:t>Update the application to be able to handle mass amounts of users on the platform at once.</a:t>
            </a:r>
          </a:p>
        </p:txBody>
      </p:sp>
      <p:sp>
        <p:nvSpPr>
          <p:cNvPr id="58" name="Text Placeholder 57">
            <a:extLst>
              <a:ext uri="{FF2B5EF4-FFF2-40B4-BE49-F238E27FC236}">
                <a16:creationId xmlns:a16="http://schemas.microsoft.com/office/drawing/2014/main" id="{0930742F-3693-100E-944F-A04AB5320145}"/>
              </a:ext>
            </a:extLst>
          </p:cNvPr>
          <p:cNvSpPr>
            <a:spLocks noGrp="1"/>
          </p:cNvSpPr>
          <p:nvPr>
            <p:ph type="body" sz="quarter" idx="53"/>
          </p:nvPr>
        </p:nvSpPr>
        <p:spPr>
          <a:xfrm>
            <a:off x="2906007" y="3372406"/>
            <a:ext cx="1865376" cy="2464293"/>
          </a:xfrm>
        </p:spPr>
        <p:txBody>
          <a:bodyPr vert="horz" lIns="91440" tIns="219456" rIns="91440" bIns="45720" rtlCol="0" anchor="t">
            <a:noAutofit/>
          </a:bodyPr>
          <a:lstStyle/>
          <a:p>
            <a:r>
              <a:rPr lang="en-US">
                <a:solidFill>
                  <a:schemeClr val="tx1"/>
                </a:solidFill>
              </a:rPr>
              <a:t>Deploy application with free plans for every university who wants to use it.</a:t>
            </a:r>
          </a:p>
        </p:txBody>
      </p:sp>
      <p:sp>
        <p:nvSpPr>
          <p:cNvPr id="40" name="Text Placeholder 39">
            <a:extLst>
              <a:ext uri="{FF2B5EF4-FFF2-40B4-BE49-F238E27FC236}">
                <a16:creationId xmlns:a16="http://schemas.microsoft.com/office/drawing/2014/main" id="{FA2F9A05-8E79-46FF-1ABA-927EF2D69BC5}"/>
              </a:ext>
            </a:extLst>
          </p:cNvPr>
          <p:cNvSpPr>
            <a:spLocks noGrp="1"/>
          </p:cNvSpPr>
          <p:nvPr>
            <p:ph type="body" sz="quarter" idx="27"/>
          </p:nvPr>
        </p:nvSpPr>
        <p:spPr>
          <a:xfrm>
            <a:off x="717200" y="2499143"/>
            <a:ext cx="1865376" cy="866219"/>
          </a:xfrm>
          <a:ln>
            <a:solidFill>
              <a:schemeClr val="accent2">
                <a:lumMod val="60000"/>
                <a:lumOff val="40000"/>
              </a:schemeClr>
            </a:solidFill>
          </a:ln>
        </p:spPr>
        <p:txBody>
          <a:bodyPr/>
          <a:lstStyle/>
          <a:p>
            <a:r>
              <a:rPr lang="en-US">
                <a:solidFill>
                  <a:schemeClr val="tx1"/>
                </a:solidFill>
              </a:rPr>
              <a:t>Implement for free at Northeastern</a:t>
            </a:r>
          </a:p>
        </p:txBody>
      </p:sp>
      <p:sp>
        <p:nvSpPr>
          <p:cNvPr id="38" name="Title 37">
            <a:extLst>
              <a:ext uri="{FF2B5EF4-FFF2-40B4-BE49-F238E27FC236}">
                <a16:creationId xmlns:a16="http://schemas.microsoft.com/office/drawing/2014/main" id="{478CB64C-71AF-6B72-8069-000DD250502E}"/>
              </a:ext>
            </a:extLst>
          </p:cNvPr>
          <p:cNvSpPr>
            <a:spLocks noGrp="1"/>
          </p:cNvSpPr>
          <p:nvPr>
            <p:ph type="title"/>
          </p:nvPr>
        </p:nvSpPr>
        <p:spPr>
          <a:xfrm>
            <a:off x="355988" y="631840"/>
            <a:ext cx="10515600" cy="685928"/>
          </a:xfrm>
        </p:spPr>
        <p:txBody>
          <a:bodyPr/>
          <a:lstStyle/>
          <a:p>
            <a:r>
              <a:rPr lang="en-US" sz="2800"/>
              <a:t>Our business plan</a:t>
            </a:r>
          </a:p>
        </p:txBody>
      </p:sp>
      <p:sp>
        <p:nvSpPr>
          <p:cNvPr id="44" name="Text Placeholder 43">
            <a:extLst>
              <a:ext uri="{FF2B5EF4-FFF2-40B4-BE49-F238E27FC236}">
                <a16:creationId xmlns:a16="http://schemas.microsoft.com/office/drawing/2014/main" id="{D0C47E92-8875-E555-5480-8A9BAEE853A7}"/>
              </a:ext>
            </a:extLst>
          </p:cNvPr>
          <p:cNvSpPr>
            <a:spLocks noGrp="1"/>
          </p:cNvSpPr>
          <p:nvPr>
            <p:ph type="body" sz="quarter" idx="47"/>
          </p:nvPr>
        </p:nvSpPr>
        <p:spPr>
          <a:xfrm>
            <a:off x="7232729" y="2499143"/>
            <a:ext cx="2009376" cy="860219"/>
          </a:xfrm>
          <a:ln>
            <a:solidFill>
              <a:schemeClr val="accent2">
                <a:lumMod val="60000"/>
                <a:lumOff val="40000"/>
              </a:schemeClr>
            </a:solidFill>
          </a:ln>
        </p:spPr>
        <p:txBody>
          <a:bodyPr/>
          <a:lstStyle/>
          <a:p>
            <a:r>
              <a:rPr lang="en-US">
                <a:solidFill>
                  <a:schemeClr val="tx1"/>
                </a:solidFill>
              </a:rPr>
              <a:t>Market to implement at other universities</a:t>
            </a:r>
          </a:p>
        </p:txBody>
      </p:sp>
      <p:sp>
        <p:nvSpPr>
          <p:cNvPr id="46" name="Text Placeholder 45">
            <a:extLst>
              <a:ext uri="{FF2B5EF4-FFF2-40B4-BE49-F238E27FC236}">
                <a16:creationId xmlns:a16="http://schemas.microsoft.com/office/drawing/2014/main" id="{B87AFF1A-EF07-5FBF-C582-29AE302A47D5}"/>
              </a:ext>
            </a:extLst>
          </p:cNvPr>
          <p:cNvSpPr>
            <a:spLocks noGrp="1"/>
          </p:cNvSpPr>
          <p:nvPr>
            <p:ph type="body" sz="quarter" idx="48"/>
          </p:nvPr>
        </p:nvSpPr>
        <p:spPr>
          <a:xfrm>
            <a:off x="5073118" y="2509726"/>
            <a:ext cx="1865376" cy="866219"/>
          </a:xfrm>
          <a:ln>
            <a:solidFill>
              <a:schemeClr val="accent2">
                <a:lumMod val="60000"/>
                <a:lumOff val="40000"/>
              </a:schemeClr>
            </a:solidFill>
          </a:ln>
        </p:spPr>
        <p:txBody>
          <a:bodyPr/>
          <a:lstStyle/>
          <a:p>
            <a:r>
              <a:rPr lang="en-US">
                <a:solidFill>
                  <a:schemeClr val="tx1"/>
                </a:solidFill>
              </a:rPr>
              <a:t>Scale application to handle more universities</a:t>
            </a:r>
          </a:p>
        </p:txBody>
      </p:sp>
      <p:sp>
        <p:nvSpPr>
          <p:cNvPr id="48" name="Text Placeholder 47">
            <a:extLst>
              <a:ext uri="{FF2B5EF4-FFF2-40B4-BE49-F238E27FC236}">
                <a16:creationId xmlns:a16="http://schemas.microsoft.com/office/drawing/2014/main" id="{9303DF4A-6DF5-9082-4ABE-2B0D5433359A}"/>
              </a:ext>
            </a:extLst>
          </p:cNvPr>
          <p:cNvSpPr>
            <a:spLocks noGrp="1"/>
          </p:cNvSpPr>
          <p:nvPr>
            <p:ph type="body" sz="quarter" idx="49"/>
          </p:nvPr>
        </p:nvSpPr>
        <p:spPr>
          <a:xfrm>
            <a:off x="2906007" y="2503726"/>
            <a:ext cx="1865376" cy="866219"/>
          </a:xfrm>
          <a:ln>
            <a:solidFill>
              <a:schemeClr val="accent2">
                <a:lumMod val="60000"/>
                <a:lumOff val="40000"/>
              </a:schemeClr>
            </a:solidFill>
          </a:ln>
        </p:spPr>
        <p:txBody>
          <a:bodyPr/>
          <a:lstStyle/>
          <a:p>
            <a:r>
              <a:rPr lang="en-US">
                <a:solidFill>
                  <a:schemeClr val="tx1"/>
                </a:solidFill>
              </a:rPr>
              <a:t>Launch</a:t>
            </a:r>
          </a:p>
        </p:txBody>
      </p:sp>
      <p:sp>
        <p:nvSpPr>
          <p:cNvPr id="4" name="Footer Placeholder 3">
            <a:extLst>
              <a:ext uri="{FF2B5EF4-FFF2-40B4-BE49-F238E27FC236}">
                <a16:creationId xmlns:a16="http://schemas.microsoft.com/office/drawing/2014/main" id="{CE70155C-EA7D-1AC6-6F40-25FF295F9BD4}"/>
              </a:ext>
            </a:extLst>
          </p:cNvPr>
          <p:cNvSpPr>
            <a:spLocks noGrp="1"/>
          </p:cNvSpPr>
          <p:nvPr>
            <p:ph type="ftr" sz="quarter" idx="54"/>
          </p:nvPr>
        </p:nvSpPr>
        <p:spPr/>
        <p:txBody>
          <a:bodyPr/>
          <a:lstStyle/>
          <a:p>
            <a:r>
              <a:rPr lang="en-US" err="1"/>
              <a:t>EduConnect</a:t>
            </a:r>
            <a:endParaRPr lang="en-US"/>
          </a:p>
        </p:txBody>
      </p:sp>
      <p:sp>
        <p:nvSpPr>
          <p:cNvPr id="15" name="Slide Number Placeholder 13">
            <a:extLst>
              <a:ext uri="{FF2B5EF4-FFF2-40B4-BE49-F238E27FC236}">
                <a16:creationId xmlns:a16="http://schemas.microsoft.com/office/drawing/2014/main" id="{679DA676-802B-4F1C-F2D7-8AB7BA23BD93}"/>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rgbClr val="FFFFFF"/>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a:ln>
                <a:noFill/>
              </a:ln>
              <a:solidFill>
                <a:srgbClr val="FFFFFF"/>
              </a:solidFill>
              <a:effectLst/>
              <a:uLnTx/>
              <a:uFillTx/>
            </a:endParaRPr>
          </a:p>
        </p:txBody>
      </p:sp>
      <p:sp>
        <p:nvSpPr>
          <p:cNvPr id="2" name="Text Placeholder 53">
            <a:extLst>
              <a:ext uri="{FF2B5EF4-FFF2-40B4-BE49-F238E27FC236}">
                <a16:creationId xmlns:a16="http://schemas.microsoft.com/office/drawing/2014/main" id="{A7C75442-9B8A-5AC0-3D9F-76D2CFD74395}"/>
              </a:ext>
            </a:extLst>
          </p:cNvPr>
          <p:cNvSpPr txBox="1">
            <a:spLocks/>
          </p:cNvSpPr>
          <p:nvPr/>
        </p:nvSpPr>
        <p:spPr>
          <a:xfrm>
            <a:off x="9562602" y="3360847"/>
            <a:ext cx="1860280" cy="2464293"/>
          </a:xfrm>
          <a:prstGeom prst="rect">
            <a:avLst/>
          </a:prstGeom>
          <a:ln w="19050">
            <a:solidFill>
              <a:schemeClr val="bg1"/>
            </a:solidFill>
          </a:ln>
        </p:spPr>
        <p:txBody>
          <a:bodyPr vert="horz" lIns="91440" tIns="219456" rIns="91440" bIns="45720" rtlCol="0" anchor="t">
            <a:noAutofit/>
          </a:bodyPr>
          <a:lstStyle>
            <a:lvl1pPr marL="0" indent="0" algn="ctr" defTabSz="457200" rtl="0" eaLnBrk="1" latinLnBrk="0" hangingPunct="1">
              <a:lnSpc>
                <a:spcPct val="100000"/>
              </a:lnSpc>
              <a:spcBef>
                <a:spcPts val="0"/>
              </a:spcBef>
              <a:spcAft>
                <a:spcPts val="1000"/>
              </a:spcAft>
              <a:buClr>
                <a:schemeClr val="tx1"/>
              </a:buClr>
              <a:buSzPct val="100000"/>
              <a:buFont typeface="Arial"/>
              <a:buNone/>
              <a:defRPr sz="1500" b="0" kern="1200" cap="none">
                <a:solidFill>
                  <a:schemeClr val="bg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0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9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8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8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a:solidFill>
                  <a:schemeClr val="tx1"/>
                </a:solidFill>
              </a:rPr>
              <a:t>Allows us to understand proper pricing at a university level.</a:t>
            </a:r>
          </a:p>
          <a:p>
            <a:endParaRPr lang="en-US">
              <a:solidFill>
                <a:schemeClr val="tx1"/>
              </a:solidFill>
            </a:endParaRPr>
          </a:p>
        </p:txBody>
      </p:sp>
      <p:sp>
        <p:nvSpPr>
          <p:cNvPr id="42" name="Text Placeholder 41">
            <a:extLst>
              <a:ext uri="{FF2B5EF4-FFF2-40B4-BE49-F238E27FC236}">
                <a16:creationId xmlns:a16="http://schemas.microsoft.com/office/drawing/2014/main" id="{48BF8F22-E288-84B0-03E9-82D678051D45}"/>
              </a:ext>
            </a:extLst>
          </p:cNvPr>
          <p:cNvSpPr>
            <a:spLocks noGrp="1"/>
          </p:cNvSpPr>
          <p:nvPr>
            <p:ph type="body" sz="quarter" idx="46"/>
          </p:nvPr>
        </p:nvSpPr>
        <p:spPr>
          <a:xfrm>
            <a:off x="9557506" y="2503726"/>
            <a:ext cx="1865376" cy="866219"/>
          </a:xfrm>
          <a:ln>
            <a:solidFill>
              <a:schemeClr val="accent2">
                <a:lumMod val="60000"/>
                <a:lumOff val="40000"/>
              </a:schemeClr>
            </a:solidFill>
          </a:ln>
        </p:spPr>
        <p:txBody>
          <a:bodyPr/>
          <a:lstStyle/>
          <a:p>
            <a:r>
              <a:rPr lang="en-US">
                <a:solidFill>
                  <a:schemeClr val="tx1"/>
                </a:solidFill>
              </a:rPr>
              <a:t>Implement a price per student pricing</a:t>
            </a:r>
          </a:p>
        </p:txBody>
      </p:sp>
      <p:pic>
        <p:nvPicPr>
          <p:cNvPr id="6" name="Picture 5" descr="A cartoon of a person holding a magnifying glass&#10;&#10;Description automatically generated">
            <a:extLst>
              <a:ext uri="{FF2B5EF4-FFF2-40B4-BE49-F238E27FC236}">
                <a16:creationId xmlns:a16="http://schemas.microsoft.com/office/drawing/2014/main" id="{DAE1137A-D616-C58C-B6C4-576EC4875F92}"/>
              </a:ext>
            </a:extLst>
          </p:cNvPr>
          <p:cNvPicPr>
            <a:picLocks noChangeAspect="1"/>
          </p:cNvPicPr>
          <p:nvPr/>
        </p:nvPicPr>
        <p:blipFill>
          <a:blip r:embed="rId3"/>
          <a:stretch>
            <a:fillRect/>
          </a:stretch>
        </p:blipFill>
        <p:spPr>
          <a:xfrm>
            <a:off x="10189941" y="851"/>
            <a:ext cx="2011851" cy="2007594"/>
          </a:xfrm>
          <a:prstGeom prst="rect">
            <a:avLst/>
          </a:prstGeom>
        </p:spPr>
      </p:pic>
      <p:sp>
        <p:nvSpPr>
          <p:cNvPr id="5" name="TextBox 4">
            <a:extLst>
              <a:ext uri="{FF2B5EF4-FFF2-40B4-BE49-F238E27FC236}">
                <a16:creationId xmlns:a16="http://schemas.microsoft.com/office/drawing/2014/main" id="{EECDFB26-D3B1-F852-ED1F-2B46FAAD3222}"/>
              </a:ext>
            </a:extLst>
          </p:cNvPr>
          <p:cNvSpPr txBox="1"/>
          <p:nvPr/>
        </p:nvSpPr>
        <p:spPr>
          <a:xfrm>
            <a:off x="1133634" y="1316502"/>
            <a:ext cx="96416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Working with universities to incorporate our product w/ their own reviews and systems</a:t>
            </a:r>
            <a:endParaRPr lang="en-US" err="1"/>
          </a:p>
        </p:txBody>
      </p:sp>
    </p:spTree>
    <p:extLst>
      <p:ext uri="{BB962C8B-B14F-4D97-AF65-F5344CB8AC3E}">
        <p14:creationId xmlns:p14="http://schemas.microsoft.com/office/powerpoint/2010/main" val="262402120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581709" y="569138"/>
            <a:ext cx="10889796" cy="1418998"/>
          </a:xfrm>
        </p:spPr>
        <p:txBody>
          <a:bodyPr/>
          <a:lstStyle/>
          <a:p>
            <a:r>
              <a:rPr lang="en-US"/>
              <a:t>Potential Areas of growth</a:t>
            </a:r>
          </a:p>
        </p:txBody>
      </p:sp>
      <p:sp>
        <p:nvSpPr>
          <p:cNvPr id="5" name="Footer Placeholder 4">
            <a:extLst>
              <a:ext uri="{FF2B5EF4-FFF2-40B4-BE49-F238E27FC236}">
                <a16:creationId xmlns:a16="http://schemas.microsoft.com/office/drawing/2014/main" id="{6229630B-7BF6-61B1-6AAC-BA71F50283DD}"/>
              </a:ext>
            </a:extLst>
          </p:cNvPr>
          <p:cNvSpPr>
            <a:spLocks noGrp="1"/>
          </p:cNvSpPr>
          <p:nvPr>
            <p:ph type="ftr" sz="quarter" idx="28"/>
          </p:nvPr>
        </p:nvSpPr>
        <p:spPr>
          <a:xfrm>
            <a:off x="685800" y="6065647"/>
            <a:ext cx="7827659" cy="377825"/>
          </a:xfrm>
        </p:spPr>
        <p:txBody>
          <a:bodyPr/>
          <a:lstStyle/>
          <a:p>
            <a:r>
              <a:rPr lang="en-US" err="1"/>
              <a:t>EduConnect</a:t>
            </a:r>
            <a:endParaRPr lang="en-US" err="1">
              <a:cs typeface="Calibri"/>
            </a:endParaRPr>
          </a:p>
        </p:txBody>
      </p:sp>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rgbClr val="FFFFFF"/>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a:ln>
                <a:noFill/>
              </a:ln>
              <a:solidFill>
                <a:srgbClr val="FFFFFF"/>
              </a:solidFill>
              <a:effectLst/>
              <a:uLnTx/>
              <a:uFillTx/>
            </a:endParaRPr>
          </a:p>
        </p:txBody>
      </p:sp>
      <p:sp>
        <p:nvSpPr>
          <p:cNvPr id="7" name="TextBox 6">
            <a:extLst>
              <a:ext uri="{FF2B5EF4-FFF2-40B4-BE49-F238E27FC236}">
                <a16:creationId xmlns:a16="http://schemas.microsoft.com/office/drawing/2014/main" id="{6FAB45DC-0EE6-B5C5-1E05-584A29ADBB5F}"/>
              </a:ext>
            </a:extLst>
          </p:cNvPr>
          <p:cNvSpPr txBox="1"/>
          <p:nvPr/>
        </p:nvSpPr>
        <p:spPr>
          <a:xfrm>
            <a:off x="798576" y="1280160"/>
            <a:ext cx="8881872" cy="717119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Calibri"/>
              <a:buChar char="-"/>
            </a:pPr>
            <a:r>
              <a:rPr lang="en-US" sz="2000">
                <a:solidFill>
                  <a:srgbClr val="FFFFFF"/>
                </a:solidFill>
                <a:latin typeface="Calibri" panose="020F0502020204030204" pitchFamily="34" charset="0"/>
                <a:ea typeface="Calibri" panose="020F0502020204030204" pitchFamily="34" charset="0"/>
                <a:cs typeface="Calibri" panose="020F0502020204030204" pitchFamily="34" charset="0"/>
              </a:rPr>
              <a:t>Personalized 4-year plan generator based on individual student interests </a:t>
            </a:r>
            <a:r>
              <a:rPr lang="en-US" sz="200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rPr>
              <a:t>(+ schedule/workflow optimization!)</a:t>
            </a:r>
            <a:endParaRPr lang="en-US" sz="2000">
              <a:solidFill>
                <a:schemeClr val="accent1">
                  <a:lumMod val="60000"/>
                  <a:lumOff val="40000"/>
                </a:schemeClr>
              </a:solidFill>
              <a:highlight>
                <a:srgbClr val="FF00FF"/>
              </a:highlight>
              <a:latin typeface="Calibri" panose="020F0502020204030204" pitchFamily="34" charset="0"/>
              <a:ea typeface="Calibri" panose="020F0502020204030204" pitchFamily="34" charset="0"/>
              <a:cs typeface="Calibri" panose="020F0502020204030204" pitchFamily="34" charset="0"/>
            </a:endParaRPr>
          </a:p>
          <a:p>
            <a:pPr marL="342900" indent="-342900">
              <a:buFont typeface="Calibri"/>
              <a:buChar char="-"/>
            </a:pPr>
            <a:endParaRPr lang="en-US" sz="200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Calibri"/>
              <a:buChar char="-"/>
            </a:pPr>
            <a:r>
              <a:rPr lang="en-US" sz="2000">
                <a:latin typeface="Calibri" panose="020F0502020204030204" pitchFamily="34" charset="0"/>
                <a:ea typeface="Calibri" panose="020F0502020204030204" pitchFamily="34" charset="0"/>
                <a:cs typeface="Calibri" panose="020F0502020204030204" pitchFamily="34" charset="0"/>
              </a:rPr>
              <a:t>Extend language capabilities for international students</a:t>
            </a:r>
          </a:p>
          <a:p>
            <a:pPr marL="800100" lvl="1" indent="-342900">
              <a:buFont typeface="Calibri"/>
              <a:buChar char="-"/>
            </a:pPr>
            <a:r>
              <a:rPr lang="en-US" sz="200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rPr>
              <a:t>Allows the model to converse in the user's native language</a:t>
            </a:r>
            <a:endParaRPr lang="en-US" sz="2000">
              <a:latin typeface="Calibri" panose="020F0502020204030204" pitchFamily="34" charset="0"/>
              <a:ea typeface="Calibri" panose="020F0502020204030204" pitchFamily="34" charset="0"/>
              <a:cs typeface="Calibri" panose="020F0502020204030204" pitchFamily="34" charset="0"/>
            </a:endParaRPr>
          </a:p>
          <a:p>
            <a:pPr marL="342900" indent="-342900">
              <a:buFont typeface="Calibri"/>
              <a:buChar char="-"/>
            </a:pPr>
            <a:endParaRPr lang="en-US" sz="2000">
              <a:solidFill>
                <a:srgbClr val="CD8BDA"/>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Calibri"/>
              <a:buChar char="-"/>
            </a:pPr>
            <a:r>
              <a:rPr lang="en-US" sz="2000">
                <a:latin typeface="Calibri" panose="020F0502020204030204" pitchFamily="34" charset="0"/>
                <a:ea typeface="Calibri" panose="020F0502020204030204" pitchFamily="34" charset="0"/>
                <a:cs typeface="Calibri" panose="020F0502020204030204" pitchFamily="34" charset="0"/>
              </a:rPr>
              <a:t>Expanded capabilities for undeclared students</a:t>
            </a:r>
            <a:endParaRPr lang="en-US" sz="2000">
              <a:solidFill>
                <a:srgbClr val="CD8BDA"/>
              </a:solidFill>
              <a:latin typeface="Calibri" panose="020F0502020204030204" pitchFamily="34" charset="0"/>
              <a:ea typeface="Calibri" panose="020F0502020204030204" pitchFamily="34" charset="0"/>
              <a:cs typeface="Calibri" panose="020F0502020204030204" pitchFamily="34" charset="0"/>
            </a:endParaRPr>
          </a:p>
          <a:p>
            <a:pPr marL="800100" lvl="1" indent="-342900">
              <a:buFont typeface="Calibri"/>
              <a:buChar char="-"/>
            </a:pPr>
            <a:r>
              <a:rPr lang="en-US" sz="200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rPr>
              <a:t>Explore features, recommendations for electives, degree major/minor paths, courses outside of chosen major, etc.</a:t>
            </a:r>
          </a:p>
          <a:p>
            <a:pPr marL="342900" indent="-342900">
              <a:buFont typeface="Calibri"/>
              <a:buChar char="-"/>
            </a:pPr>
            <a:endParaRPr lang="en-US" sz="2000">
              <a:solidFill>
                <a:srgbClr val="FFFFFF"/>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Calibri"/>
              <a:buChar char="-"/>
            </a:pPr>
            <a:r>
              <a:rPr lang="en-US" sz="2000">
                <a:latin typeface="Calibri" panose="020F0502020204030204" pitchFamily="34" charset="0"/>
                <a:ea typeface="Calibri" panose="020F0502020204030204" pitchFamily="34" charset="0"/>
                <a:cs typeface="Calibri" panose="020F0502020204030204" pitchFamily="34" charset="0"/>
              </a:rPr>
              <a:t>Tools for academic advisors</a:t>
            </a:r>
          </a:p>
          <a:p>
            <a:pPr marL="800100" lvl="1" indent="-342900">
              <a:buFont typeface="Calibri"/>
              <a:buChar char="-"/>
            </a:pPr>
            <a:r>
              <a:rPr lang="en-US" sz="200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rPr>
              <a:t>Export functions, sharing, user data persistence for meeting prep</a:t>
            </a:r>
          </a:p>
          <a:p>
            <a:pPr marL="342900" indent="-342900">
              <a:buFont typeface="Calibri"/>
              <a:buChar char="-"/>
            </a:pPr>
            <a:endParaRPr lang="en-US" sz="2000">
              <a:solidFill>
                <a:srgbClr val="FFFFFF"/>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Calibri"/>
              <a:buChar char="-"/>
            </a:pPr>
            <a:r>
              <a:rPr lang="en-US" sz="2000">
                <a:solidFill>
                  <a:srgbClr val="FFFFFF"/>
                </a:solidFill>
                <a:latin typeface="Calibri" panose="020F0502020204030204" pitchFamily="34" charset="0"/>
                <a:ea typeface="Calibri" panose="020F0502020204030204" pitchFamily="34" charset="0"/>
                <a:cs typeface="Calibri" panose="020F0502020204030204" pitchFamily="34" charset="0"/>
              </a:rPr>
              <a:t>Fine-tuning</a:t>
            </a:r>
          </a:p>
          <a:p>
            <a:pPr marL="800100" lvl="1" indent="-342900">
              <a:buFont typeface="Calibri"/>
              <a:buChar char="-"/>
            </a:pPr>
            <a:r>
              <a:rPr lang="en-US" sz="200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rPr>
              <a:t>Training specialized LLMs for each institution</a:t>
            </a:r>
          </a:p>
          <a:p>
            <a:pPr marL="800100" lvl="1" indent="-342900">
              <a:buFont typeface="Calibri"/>
              <a:buChar char="-"/>
            </a:pPr>
            <a:r>
              <a:rPr lang="en-US" sz="200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rPr>
              <a:t>Implementing user feedback</a:t>
            </a:r>
          </a:p>
          <a:p>
            <a:pPr lvl="1"/>
            <a:endParaRPr lang="en-US" sz="200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endParaRPr>
          </a:p>
          <a:p>
            <a:pPr marL="800100" lvl="1" indent="-342900">
              <a:buFont typeface="Calibri"/>
              <a:buChar char="-"/>
            </a:pPr>
            <a:endParaRPr lang="en-US" sz="200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endParaRPr>
          </a:p>
          <a:p>
            <a:pPr marL="800100" lvl="1" indent="-342900">
              <a:buFont typeface="Calibri"/>
              <a:buChar char="-"/>
            </a:pPr>
            <a:endParaRPr lang="en-US" sz="2000">
              <a:solidFill>
                <a:srgbClr val="CD8BDA"/>
              </a:solidFill>
              <a:latin typeface="Calibri" panose="020F0502020204030204" pitchFamily="34" charset="0"/>
              <a:ea typeface="Calibri" panose="020F0502020204030204" pitchFamily="34" charset="0"/>
              <a:cs typeface="Calibri" panose="020F0502020204030204" pitchFamily="34" charset="0"/>
            </a:endParaRPr>
          </a:p>
          <a:p>
            <a:pPr marL="800100" lvl="1" indent="-342900">
              <a:buFont typeface="Calibri"/>
              <a:buChar char="-"/>
            </a:pPr>
            <a:endParaRPr lang="en-US" sz="2000">
              <a:solidFill>
                <a:srgbClr val="FFFFFF"/>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Calibri"/>
              <a:buChar char="-"/>
            </a:pPr>
            <a:endParaRPr lang="en-US" sz="2000">
              <a:solidFill>
                <a:srgbClr val="FFFFFF"/>
              </a:solidFill>
              <a:latin typeface="Calibri" panose="020F0502020204030204" pitchFamily="34" charset="0"/>
              <a:ea typeface="Calibri" panose="020F0502020204030204" pitchFamily="34" charset="0"/>
              <a:cs typeface="Calibri" panose="020F0502020204030204" pitchFamily="34" charset="0"/>
            </a:endParaRPr>
          </a:p>
          <a:p>
            <a:endParaRPr lang="en-US" sz="2000">
              <a:solidFill>
                <a:srgbClr val="FFFFFF"/>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Calibri"/>
              <a:buChar char="-"/>
            </a:pPr>
            <a:endParaRPr lang="en-US" sz="200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descr="A cartoon of a person holding a magnifying glass&#10;&#10;Description automatically generated">
            <a:extLst>
              <a:ext uri="{FF2B5EF4-FFF2-40B4-BE49-F238E27FC236}">
                <a16:creationId xmlns:a16="http://schemas.microsoft.com/office/drawing/2014/main" id="{D5671D83-AF73-B383-A49A-92320ED6DB44}"/>
              </a:ext>
            </a:extLst>
          </p:cNvPr>
          <p:cNvPicPr>
            <a:picLocks noChangeAspect="1"/>
          </p:cNvPicPr>
          <p:nvPr/>
        </p:nvPicPr>
        <p:blipFill>
          <a:blip r:embed="rId3"/>
          <a:stretch>
            <a:fillRect/>
          </a:stretch>
        </p:blipFill>
        <p:spPr>
          <a:xfrm>
            <a:off x="10181428" y="851"/>
            <a:ext cx="2011851" cy="2007594"/>
          </a:xfrm>
          <a:prstGeom prst="rect">
            <a:avLst/>
          </a:prstGeom>
        </p:spPr>
      </p:pic>
      <p:pic>
        <p:nvPicPr>
          <p:cNvPr id="2" name="图片 1" descr="图片包含 游戏机, 钟表&#10;&#10;已自动生成说明">
            <a:extLst>
              <a:ext uri="{FF2B5EF4-FFF2-40B4-BE49-F238E27FC236}">
                <a16:creationId xmlns:a16="http://schemas.microsoft.com/office/drawing/2014/main" id="{549F4B08-45EE-9185-5B85-8C6B133CD441}"/>
              </a:ext>
            </a:extLst>
          </p:cNvPr>
          <p:cNvPicPr>
            <a:picLocks noChangeAspect="1"/>
          </p:cNvPicPr>
          <p:nvPr/>
        </p:nvPicPr>
        <p:blipFill>
          <a:blip r:embed="rId4"/>
          <a:stretch>
            <a:fillRect/>
          </a:stretch>
        </p:blipFill>
        <p:spPr>
          <a:xfrm>
            <a:off x="9679725" y="3971250"/>
            <a:ext cx="1352550" cy="2095500"/>
          </a:xfrm>
          <a:prstGeom prst="rect">
            <a:avLst/>
          </a:prstGeom>
        </p:spPr>
      </p:pic>
    </p:spTree>
    <p:extLst>
      <p:ext uri="{BB962C8B-B14F-4D97-AF65-F5344CB8AC3E}">
        <p14:creationId xmlns:p14="http://schemas.microsoft.com/office/powerpoint/2010/main" val="1246021298"/>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Placeholder 48">
            <a:extLst>
              <a:ext uri="{FF2B5EF4-FFF2-40B4-BE49-F238E27FC236}">
                <a16:creationId xmlns:a16="http://schemas.microsoft.com/office/drawing/2014/main" id="{1314DF81-1F76-3EC4-20FE-94867A9F0F85}"/>
              </a:ext>
            </a:extLst>
          </p:cNvPr>
          <p:cNvSpPr>
            <a:spLocks noGrp="1"/>
          </p:cNvSpPr>
          <p:nvPr>
            <p:ph type="body" sz="quarter" idx="27"/>
          </p:nvPr>
        </p:nvSpPr>
        <p:spPr/>
        <p:txBody>
          <a:bodyPr/>
          <a:lstStyle/>
          <a:p>
            <a:r>
              <a:rPr lang="en-US">
                <a:solidFill>
                  <a:schemeClr val="tx1"/>
                </a:solidFill>
              </a:rPr>
              <a:t>Front End</a:t>
            </a:r>
          </a:p>
        </p:txBody>
      </p:sp>
      <p:sp>
        <p:nvSpPr>
          <p:cNvPr id="4" name="Text Placeholder 3">
            <a:extLst>
              <a:ext uri="{FF2B5EF4-FFF2-40B4-BE49-F238E27FC236}">
                <a16:creationId xmlns:a16="http://schemas.microsoft.com/office/drawing/2014/main" id="{7FE65A67-333E-9FDE-3F4D-6F1490CD05E1}"/>
              </a:ext>
            </a:extLst>
          </p:cNvPr>
          <p:cNvSpPr>
            <a:spLocks noGrp="1"/>
          </p:cNvSpPr>
          <p:nvPr>
            <p:ph type="body" sz="quarter" idx="49"/>
          </p:nvPr>
        </p:nvSpPr>
        <p:spPr/>
        <p:txBody>
          <a:bodyPr/>
          <a:lstStyle/>
          <a:p>
            <a:r>
              <a:rPr lang="en-US">
                <a:solidFill>
                  <a:schemeClr val="tx1"/>
                </a:solidFill>
                <a:ea typeface="Calibri"/>
                <a:cs typeface="Calibri"/>
              </a:rPr>
              <a:t>Backend</a:t>
            </a:r>
          </a:p>
        </p:txBody>
      </p:sp>
      <p:sp>
        <p:nvSpPr>
          <p:cNvPr id="6" name="Text Placeholder 5">
            <a:extLst>
              <a:ext uri="{FF2B5EF4-FFF2-40B4-BE49-F238E27FC236}">
                <a16:creationId xmlns:a16="http://schemas.microsoft.com/office/drawing/2014/main" id="{FA441FB1-32FD-977D-CFCB-8217F9BBCF47}"/>
              </a:ext>
            </a:extLst>
          </p:cNvPr>
          <p:cNvSpPr>
            <a:spLocks noGrp="1"/>
          </p:cNvSpPr>
          <p:nvPr>
            <p:ph type="body" sz="quarter" idx="51"/>
          </p:nvPr>
        </p:nvSpPr>
        <p:spPr/>
        <p:txBody>
          <a:bodyPr/>
          <a:lstStyle/>
          <a:p>
            <a:r>
              <a:rPr lang="en-US" err="1">
                <a:solidFill>
                  <a:schemeClr val="tx1"/>
                </a:solidFill>
              </a:rPr>
              <a:t>Webscraping</a:t>
            </a:r>
            <a:endParaRPr lang="en-US">
              <a:solidFill>
                <a:schemeClr val="tx1"/>
              </a:solidFill>
              <a:ea typeface="Calibri"/>
              <a:cs typeface="Calibri"/>
            </a:endParaRPr>
          </a:p>
        </p:txBody>
      </p:sp>
      <p:sp>
        <p:nvSpPr>
          <p:cNvPr id="8" name="Text Placeholder 7">
            <a:extLst>
              <a:ext uri="{FF2B5EF4-FFF2-40B4-BE49-F238E27FC236}">
                <a16:creationId xmlns:a16="http://schemas.microsoft.com/office/drawing/2014/main" id="{8191C3C8-C0E0-3CDB-4135-0B495B273F9B}"/>
              </a:ext>
            </a:extLst>
          </p:cNvPr>
          <p:cNvSpPr>
            <a:spLocks noGrp="1"/>
          </p:cNvSpPr>
          <p:nvPr>
            <p:ph type="body" sz="quarter" idx="53"/>
          </p:nvPr>
        </p:nvSpPr>
        <p:spPr/>
        <p:txBody>
          <a:bodyPr/>
          <a:lstStyle/>
          <a:p>
            <a:r>
              <a:rPr lang="en-US">
                <a:solidFill>
                  <a:schemeClr val="tx1"/>
                </a:solidFill>
              </a:rPr>
              <a:t>LLM</a:t>
            </a:r>
          </a:p>
        </p:txBody>
      </p:sp>
      <p:pic>
        <p:nvPicPr>
          <p:cNvPr id="55" name="Picture Placeholder 7">
            <a:extLst>
              <a:ext uri="{FF2B5EF4-FFF2-40B4-BE49-F238E27FC236}">
                <a16:creationId xmlns:a16="http://schemas.microsoft.com/office/drawing/2014/main" id="{9A8C3D8A-AD4E-BD2D-C807-79872E9076A5}"/>
              </a:ext>
            </a:extLst>
          </p:cNvPr>
          <p:cNvPicPr>
            <a:picLocks noGrp="1" noChangeAspect="1"/>
          </p:cNvPicPr>
          <p:nvPr>
            <p:ph type="pic" sz="quarter" idx="57"/>
          </p:nvPr>
        </p:nvPicPr>
        <p:blipFill>
          <a:blip r:embed="rId3">
            <a:extLst>
              <a:ext uri="{837473B0-CC2E-450A-ABE3-18F120FF3D39}">
                <a1611:picAttrSrcUrl xmlns:a1611="http://schemas.microsoft.com/office/drawing/2016/11/main" r:id="rId4"/>
              </a:ext>
            </a:extLst>
          </a:blip>
          <a:srcRect l="20658" r="20658"/>
          <a:stretch/>
        </p:blipFill>
        <p:spPr>
          <a:xfrm>
            <a:off x="983282" y="2073439"/>
            <a:ext cx="1621032" cy="1841551"/>
          </a:xfrm>
        </p:spPr>
      </p:pic>
      <p:pic>
        <p:nvPicPr>
          <p:cNvPr id="34" name="Picture Placeholder 9" descr="A yellow person with a screwdriver pointing at numbers&#10;&#10;Description automatically generated">
            <a:extLst>
              <a:ext uri="{FF2B5EF4-FFF2-40B4-BE49-F238E27FC236}">
                <a16:creationId xmlns:a16="http://schemas.microsoft.com/office/drawing/2014/main" id="{E83EA030-5740-6F6C-2CD2-743E3AFE8871}"/>
              </a:ext>
            </a:extLst>
          </p:cNvPr>
          <p:cNvPicPr>
            <a:picLocks noGrp="1" noChangeAspect="1"/>
          </p:cNvPicPr>
          <p:nvPr>
            <p:ph type="pic" sz="quarter" idx="58"/>
          </p:nvPr>
        </p:nvPicPr>
        <p:blipFill>
          <a:blip r:embed="rId5">
            <a:extLst>
              <a:ext uri="{837473B0-CC2E-450A-ABE3-18F120FF3D39}">
                <a1611:picAttrSrcUrl xmlns:a1611="http://schemas.microsoft.com/office/drawing/2016/11/main" r:id="rId6"/>
              </a:ext>
            </a:extLst>
          </a:blip>
          <a:srcRect l="20141" r="20141"/>
          <a:stretch/>
        </p:blipFill>
        <p:spPr>
          <a:xfrm>
            <a:off x="5159490" y="2083183"/>
            <a:ext cx="1621032" cy="1841551"/>
          </a:xfrm>
          <a:solidFill>
            <a:schemeClr val="bg1">
              <a:lumMod val="95000"/>
            </a:schemeClr>
          </a:solidFill>
        </p:spPr>
      </p:pic>
      <p:pic>
        <p:nvPicPr>
          <p:cNvPr id="33" name="Picture Placeholder  11" descr="1920x1080px | free download | HD wallpaper: human brain in a jar ...">
            <a:extLst>
              <a:ext uri="{FF2B5EF4-FFF2-40B4-BE49-F238E27FC236}">
                <a16:creationId xmlns:a16="http://schemas.microsoft.com/office/drawing/2014/main" id="{DF0C753D-68D4-E5C0-7B57-6CDF7C66BAFB}"/>
              </a:ext>
            </a:extLst>
          </p:cNvPr>
          <p:cNvPicPr>
            <a:picLocks noGrp="1" noChangeAspect="1"/>
          </p:cNvPicPr>
          <p:nvPr>
            <p:ph type="pic" sz="quarter" idx="59"/>
          </p:nvPr>
        </p:nvPicPr>
        <p:blipFill rotWithShape="1">
          <a:blip r:embed="rId7"/>
          <a:srcRect l="22531" r="22222" b="690"/>
          <a:stretch/>
        </p:blipFill>
        <p:spPr>
          <a:xfrm>
            <a:off x="7345693" y="2091917"/>
            <a:ext cx="1627838" cy="1828852"/>
          </a:xfrm>
        </p:spPr>
      </p:pic>
      <p:pic>
        <p:nvPicPr>
          <p:cNvPr id="32" name="Picture Placeholder 13" descr="A diagram of a network&#10;&#10;Description automatically generated">
            <a:extLst>
              <a:ext uri="{FF2B5EF4-FFF2-40B4-BE49-F238E27FC236}">
                <a16:creationId xmlns:a16="http://schemas.microsoft.com/office/drawing/2014/main" id="{C5A00248-FB97-E78F-F875-284202D71324}"/>
              </a:ext>
            </a:extLst>
          </p:cNvPr>
          <p:cNvPicPr>
            <a:picLocks noGrp="1" noChangeAspect="1"/>
          </p:cNvPicPr>
          <p:nvPr>
            <p:ph type="pic" sz="quarter" idx="60"/>
          </p:nvPr>
        </p:nvPicPr>
        <p:blipFill>
          <a:blip r:embed="rId8"/>
          <a:srcRect l="9131" r="9131"/>
          <a:stretch/>
        </p:blipFill>
        <p:spPr>
          <a:xfrm>
            <a:off x="9446558" y="2082846"/>
            <a:ext cx="1621032" cy="1841551"/>
          </a:xfrm>
        </p:spPr>
      </p:pic>
      <p:sp>
        <p:nvSpPr>
          <p:cNvPr id="73" name="Title 72">
            <a:extLst>
              <a:ext uri="{FF2B5EF4-FFF2-40B4-BE49-F238E27FC236}">
                <a16:creationId xmlns:a16="http://schemas.microsoft.com/office/drawing/2014/main" id="{48B2F6FE-2CF0-7F44-B7C7-65EE2B418183}"/>
              </a:ext>
            </a:extLst>
          </p:cNvPr>
          <p:cNvSpPr>
            <a:spLocks noGrp="1"/>
          </p:cNvSpPr>
          <p:nvPr>
            <p:ph type="title"/>
          </p:nvPr>
        </p:nvSpPr>
        <p:spPr/>
        <p:txBody>
          <a:bodyPr/>
          <a:lstStyle/>
          <a:p>
            <a:r>
              <a:rPr lang="en-US"/>
              <a:t>DEMO AND </a:t>
            </a:r>
            <a:r>
              <a:rPr lang="en-US" err="1"/>
              <a:t>FUNCtIONALITY</a:t>
            </a:r>
          </a:p>
        </p:txBody>
      </p:sp>
      <p:sp>
        <p:nvSpPr>
          <p:cNvPr id="18" name="Footer Placeholder 17">
            <a:extLst>
              <a:ext uri="{FF2B5EF4-FFF2-40B4-BE49-F238E27FC236}">
                <a16:creationId xmlns:a16="http://schemas.microsoft.com/office/drawing/2014/main" id="{3C4058BD-8FE5-6A94-927D-47A49DA1E8B0}"/>
              </a:ext>
            </a:extLst>
          </p:cNvPr>
          <p:cNvSpPr>
            <a:spLocks noGrp="1"/>
          </p:cNvSpPr>
          <p:nvPr>
            <p:ph type="ftr" sz="quarter" idx="62"/>
          </p:nvPr>
        </p:nvSpPr>
        <p:spPr/>
        <p:txBody>
          <a:bodyPr/>
          <a:lstStyle/>
          <a:p>
            <a:r>
              <a:rPr lang="en-US" noProof="0" err="1"/>
              <a:t>EduConnect</a:t>
            </a:r>
            <a:endParaRPr lang="en-US" noProof="0"/>
          </a:p>
        </p:txBody>
      </p:sp>
      <p:pic>
        <p:nvPicPr>
          <p:cNvPr id="3" name="Picture 2" descr="A cartoon of a person holding a magnifying glass&#10;&#10;Description automatically generated">
            <a:extLst>
              <a:ext uri="{FF2B5EF4-FFF2-40B4-BE49-F238E27FC236}">
                <a16:creationId xmlns:a16="http://schemas.microsoft.com/office/drawing/2014/main" id="{AE4D4D90-9B1D-8472-9FC4-0D9FDD2BCAE8}"/>
              </a:ext>
            </a:extLst>
          </p:cNvPr>
          <p:cNvPicPr>
            <a:picLocks noChangeAspect="1"/>
          </p:cNvPicPr>
          <p:nvPr/>
        </p:nvPicPr>
        <p:blipFill>
          <a:blip r:embed="rId9"/>
          <a:stretch>
            <a:fillRect/>
          </a:stretch>
        </p:blipFill>
        <p:spPr>
          <a:xfrm>
            <a:off x="10189941" y="851"/>
            <a:ext cx="2011851" cy="2007594"/>
          </a:xfrm>
          <a:prstGeom prst="rect">
            <a:avLst/>
          </a:prstGeom>
        </p:spPr>
      </p:pic>
      <p:pic>
        <p:nvPicPr>
          <p:cNvPr id="25" name="Picture Placeholder 13" descr="Online crop | HD wallpaper: code, HTML, minimalism | Wallpaper Flare">
            <a:extLst>
              <a:ext uri="{FF2B5EF4-FFF2-40B4-BE49-F238E27FC236}">
                <a16:creationId xmlns:a16="http://schemas.microsoft.com/office/drawing/2014/main" id="{2F7FAFF6-6AD7-12E8-C52A-7CA3723F7B60}"/>
              </a:ext>
            </a:extLst>
          </p:cNvPr>
          <p:cNvPicPr>
            <a:picLocks noChangeAspect="1"/>
          </p:cNvPicPr>
          <p:nvPr/>
        </p:nvPicPr>
        <p:blipFill>
          <a:blip r:embed="rId10"/>
          <a:srcRect l="20658" r="20658"/>
          <a:stretch/>
        </p:blipFill>
        <p:spPr>
          <a:xfrm>
            <a:off x="2979503" y="2047097"/>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pic>
      <p:sp>
        <p:nvSpPr>
          <p:cNvPr id="27" name="Text Placeholder 7">
            <a:extLst>
              <a:ext uri="{FF2B5EF4-FFF2-40B4-BE49-F238E27FC236}">
                <a16:creationId xmlns:a16="http://schemas.microsoft.com/office/drawing/2014/main" id="{4FA9CC0A-0D39-D25E-036E-3769F3FAB75E}"/>
              </a:ext>
            </a:extLst>
          </p:cNvPr>
          <p:cNvSpPr txBox="1">
            <a:spLocks/>
          </p:cNvSpPr>
          <p:nvPr/>
        </p:nvSpPr>
        <p:spPr>
          <a:xfrm>
            <a:off x="9321586" y="4380817"/>
            <a:ext cx="1877575" cy="506399"/>
          </a:xfrm>
          <a:prstGeom prst="rect">
            <a:avLst/>
          </a:prstGeom>
        </p:spPr>
        <p:txBody>
          <a:bodyPr vert="horz" lIns="91440" tIns="45720" rIns="91440" bIns="45720" rtlCol="0" anchor="ctr">
            <a:noAutofit/>
          </a:bodyPr>
          <a:lstStyle>
            <a:lvl1pPr marL="0" indent="0" algn="ctr" defTabSz="457200" rtl="0" eaLnBrk="1" latinLnBrk="0" hangingPunct="1">
              <a:lnSpc>
                <a:spcPct val="100000"/>
              </a:lnSpc>
              <a:spcBef>
                <a:spcPts val="0"/>
              </a:spcBef>
              <a:spcAft>
                <a:spcPts val="1000"/>
              </a:spcAft>
              <a:buClr>
                <a:schemeClr val="tx1"/>
              </a:buClr>
              <a:buSzPct val="100000"/>
              <a:buFont typeface="Arial"/>
              <a:buNone/>
              <a:defRPr sz="1800" b="1" kern="1200" cap="none">
                <a:solidFill>
                  <a:schemeClr val="bg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0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9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8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8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a:solidFill>
                  <a:schemeClr val="tx1"/>
                </a:solidFill>
                <a:ea typeface="Calibri"/>
                <a:cs typeface="Calibri"/>
              </a:rPr>
              <a:t>Algorithm</a:t>
            </a:r>
          </a:p>
        </p:txBody>
      </p:sp>
      <p:sp>
        <p:nvSpPr>
          <p:cNvPr id="5" name="TextBox 4">
            <a:extLst>
              <a:ext uri="{FF2B5EF4-FFF2-40B4-BE49-F238E27FC236}">
                <a16:creationId xmlns:a16="http://schemas.microsoft.com/office/drawing/2014/main" id="{E2B31232-3774-FE59-4EF6-3CA8EDC874EA}"/>
              </a:ext>
            </a:extLst>
          </p:cNvPr>
          <p:cNvSpPr txBox="1"/>
          <p:nvPr/>
        </p:nvSpPr>
        <p:spPr>
          <a:xfrm>
            <a:off x="1706478" y="5195637"/>
            <a:ext cx="85083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11"/>
              </a:rPr>
              <a:t>https://drive.google.com/file/d/10tJZQnsdmeDIvAELg3rxxLBIIc24N3R_/view?usp=sharing</a:t>
            </a:r>
            <a:endParaRPr lang="en-US"/>
          </a:p>
        </p:txBody>
      </p:sp>
      <p:sp>
        <p:nvSpPr>
          <p:cNvPr id="7" name="Slide Number Placeholder 13">
            <a:extLst>
              <a:ext uri="{FF2B5EF4-FFF2-40B4-BE49-F238E27FC236}">
                <a16:creationId xmlns:a16="http://schemas.microsoft.com/office/drawing/2014/main" id="{36B060A3-14E2-1C17-9514-3650FC118D8C}"/>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rgbClr val="FFFFFF"/>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altLang="zh-CN" sz="1200" u="none" strike="noStrike" kern="1200" cap="none" spc="0" normalizeH="0" baseline="0">
              <a:ln>
                <a:noFill/>
              </a:ln>
              <a:solidFill>
                <a:srgbClr val="FFFFFF"/>
              </a:solidFill>
              <a:effectLst/>
              <a:uLnTx/>
              <a:uFillTx/>
            </a:endParaRPr>
          </a:p>
        </p:txBody>
      </p:sp>
    </p:spTree>
    <p:extLst>
      <p:ext uri="{BB962C8B-B14F-4D97-AF65-F5344CB8AC3E}">
        <p14:creationId xmlns:p14="http://schemas.microsoft.com/office/powerpoint/2010/main" val="2997378153"/>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418571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AE3AD35-EE14-4A3E-7000-1D707FFDAF12}"/>
              </a:ext>
            </a:extLst>
          </p:cNvPr>
          <p:cNvSpPr txBox="1"/>
          <p:nvPr/>
        </p:nvSpPr>
        <p:spPr>
          <a:xfrm>
            <a:off x="3994250" y="579857"/>
            <a:ext cx="4458592"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a:ea typeface="Calibri"/>
                <a:cs typeface="Calibri"/>
              </a:rPr>
              <a:t>OUTCOMES</a:t>
            </a:r>
            <a:endParaRPr lang="en-US" sz="4400"/>
          </a:p>
        </p:txBody>
      </p:sp>
      <p:pic>
        <p:nvPicPr>
          <p:cNvPr id="7" name="Picture 6" descr="Undergraduate Advising - College of ...">
            <a:extLst>
              <a:ext uri="{FF2B5EF4-FFF2-40B4-BE49-F238E27FC236}">
                <a16:creationId xmlns:a16="http://schemas.microsoft.com/office/drawing/2014/main" id="{18E85176-A78B-40AA-C004-5996000A1C6B}"/>
              </a:ext>
            </a:extLst>
          </p:cNvPr>
          <p:cNvPicPr>
            <a:picLocks noChangeAspect="1"/>
          </p:cNvPicPr>
          <p:nvPr/>
        </p:nvPicPr>
        <p:blipFill>
          <a:blip r:embed="rId3"/>
          <a:stretch>
            <a:fillRect/>
          </a:stretch>
        </p:blipFill>
        <p:spPr>
          <a:xfrm>
            <a:off x="423063" y="1941050"/>
            <a:ext cx="2930502" cy="2792354"/>
          </a:xfrm>
          <a:prstGeom prst="rect">
            <a:avLst/>
          </a:prstGeom>
        </p:spPr>
      </p:pic>
      <p:sp>
        <p:nvSpPr>
          <p:cNvPr id="3" name="TextBox 2">
            <a:extLst>
              <a:ext uri="{FF2B5EF4-FFF2-40B4-BE49-F238E27FC236}">
                <a16:creationId xmlns:a16="http://schemas.microsoft.com/office/drawing/2014/main" id="{3FCD5471-2586-7873-D52C-931D7A018D19}"/>
              </a:ext>
            </a:extLst>
          </p:cNvPr>
          <p:cNvSpPr txBox="1"/>
          <p:nvPr/>
        </p:nvSpPr>
        <p:spPr>
          <a:xfrm>
            <a:off x="4318371" y="1715334"/>
            <a:ext cx="6814615"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Calibri"/>
              <a:buChar char="-"/>
            </a:pPr>
            <a:endParaRPr lang="en-US" sz="2000">
              <a:solidFill>
                <a:srgbClr val="E3E3E3"/>
              </a:solidFill>
              <a:ea typeface="+mn-lt"/>
              <a:cs typeface="+mn-lt"/>
            </a:endParaRPr>
          </a:p>
          <a:p>
            <a:pPr marL="342900" indent="-342900">
              <a:buFont typeface="Calibri"/>
              <a:buChar char="-"/>
            </a:pPr>
            <a:r>
              <a:rPr lang="en-US" sz="2000">
                <a:solidFill>
                  <a:srgbClr val="E3E3E3"/>
                </a:solidFill>
                <a:ea typeface="+mn-lt"/>
                <a:cs typeface="+mn-lt"/>
              </a:rPr>
              <a:t>Data-Driven Discussions</a:t>
            </a:r>
          </a:p>
          <a:p>
            <a:pPr marL="800100" lvl="1" indent="-342900">
              <a:buFont typeface="Calibri"/>
              <a:buChar char="-"/>
            </a:pPr>
            <a:r>
              <a:rPr lang="en-US" sz="2000">
                <a:solidFill>
                  <a:schemeClr val="accent1">
                    <a:lumMod val="40000"/>
                    <a:lumOff val="60000"/>
                  </a:schemeClr>
                </a:solidFill>
                <a:ea typeface="+mn-lt"/>
                <a:cs typeface="+mn-lt"/>
              </a:rPr>
              <a:t>Recommendations generated by </a:t>
            </a:r>
            <a:r>
              <a:rPr lang="en-US" sz="2000" err="1">
                <a:solidFill>
                  <a:schemeClr val="accent1">
                    <a:lumMod val="40000"/>
                    <a:lumOff val="60000"/>
                  </a:schemeClr>
                </a:solidFill>
                <a:ea typeface="+mn-lt"/>
                <a:cs typeface="+mn-lt"/>
              </a:rPr>
              <a:t>Educonnect</a:t>
            </a:r>
            <a:r>
              <a:rPr lang="en-US" sz="2000">
                <a:solidFill>
                  <a:schemeClr val="accent1">
                    <a:lumMod val="40000"/>
                    <a:lumOff val="60000"/>
                  </a:schemeClr>
                </a:solidFill>
                <a:ea typeface="+mn-lt"/>
                <a:cs typeface="+mn-lt"/>
              </a:rPr>
              <a:t> will give students tangible starting points for a discussion</a:t>
            </a:r>
            <a:endParaRPr lang="en-US" sz="2000">
              <a:solidFill>
                <a:schemeClr val="accent1">
                  <a:lumMod val="40000"/>
                  <a:lumOff val="60000"/>
                </a:schemeClr>
              </a:solidFill>
              <a:latin typeface="Calibri"/>
              <a:cs typeface="Calibri"/>
            </a:endParaRPr>
          </a:p>
          <a:p>
            <a:pPr marL="800100" lvl="1" indent="-342900">
              <a:buFont typeface="Calibri"/>
              <a:buChar char="-"/>
            </a:pPr>
            <a:endParaRPr lang="en-US" sz="2000">
              <a:solidFill>
                <a:schemeClr val="accent1">
                  <a:lumMod val="40000"/>
                  <a:lumOff val="60000"/>
                </a:schemeClr>
              </a:solidFill>
              <a:latin typeface="Calibri"/>
              <a:cs typeface="Calibri"/>
            </a:endParaRPr>
          </a:p>
          <a:p>
            <a:pPr marL="342900" indent="-342900">
              <a:buFont typeface="Calibri"/>
              <a:buChar char="-"/>
            </a:pPr>
            <a:r>
              <a:rPr lang="en-US" sz="2000">
                <a:solidFill>
                  <a:srgbClr val="E3E3E3"/>
                </a:solidFill>
                <a:latin typeface="Calibri"/>
                <a:cs typeface="Calibri"/>
              </a:rPr>
              <a:t>Streamlining advisor meetings</a:t>
            </a:r>
            <a:endParaRPr lang="en-US" sz="2000">
              <a:solidFill>
                <a:srgbClr val="FFFFFF"/>
              </a:solidFill>
              <a:latin typeface="Calibri"/>
              <a:cs typeface="Calibri"/>
            </a:endParaRPr>
          </a:p>
          <a:p>
            <a:pPr marL="800100" lvl="1" indent="-342900">
              <a:buFont typeface="Calibri"/>
              <a:buChar char="-"/>
            </a:pPr>
            <a:r>
              <a:rPr lang="en-US" sz="2000">
                <a:solidFill>
                  <a:schemeClr val="accent1">
                    <a:lumMod val="40000"/>
                    <a:lumOff val="60000"/>
                  </a:schemeClr>
                </a:solidFill>
                <a:ea typeface="+mn-lt"/>
                <a:cs typeface="+mn-lt"/>
              </a:rPr>
              <a:t>Advisors can dedicate more time to nuanced guidance and personalized planning</a:t>
            </a:r>
            <a:endParaRPr lang="en-US" sz="2000">
              <a:solidFill>
                <a:schemeClr val="accent1">
                  <a:lumMod val="40000"/>
                  <a:lumOff val="60000"/>
                </a:schemeClr>
              </a:solidFill>
              <a:latin typeface="Calibri"/>
              <a:cs typeface="Calibri"/>
            </a:endParaRPr>
          </a:p>
          <a:p>
            <a:pPr marL="800100" lvl="1" indent="-342900">
              <a:buFont typeface="Calibri"/>
              <a:buChar char="-"/>
            </a:pPr>
            <a:endParaRPr lang="en-US" sz="2000">
              <a:solidFill>
                <a:schemeClr val="accent1">
                  <a:lumMod val="40000"/>
                  <a:lumOff val="60000"/>
                </a:schemeClr>
              </a:solidFill>
              <a:latin typeface="Calibri"/>
              <a:cs typeface="Calibri"/>
            </a:endParaRPr>
          </a:p>
          <a:p>
            <a:pPr marL="342900" indent="-342900">
              <a:buFont typeface="Calibri"/>
              <a:buChar char="-"/>
            </a:pPr>
            <a:r>
              <a:rPr lang="en-US" sz="2000">
                <a:solidFill>
                  <a:srgbClr val="E3E3E3"/>
                </a:solidFill>
                <a:latin typeface="Calibri"/>
                <a:cs typeface="Calibri"/>
              </a:rPr>
              <a:t>Teaching Self-Advocacy</a:t>
            </a:r>
          </a:p>
          <a:p>
            <a:pPr marL="800100" lvl="1" indent="-342900">
              <a:buFont typeface="Calibri"/>
              <a:buChar char="-"/>
            </a:pPr>
            <a:r>
              <a:rPr lang="en-US" sz="2000">
                <a:solidFill>
                  <a:schemeClr val="accent1">
                    <a:lumMod val="40000"/>
                    <a:lumOff val="60000"/>
                  </a:schemeClr>
                </a:solidFill>
                <a:latin typeface="Calibri"/>
                <a:cs typeface="Calibri"/>
              </a:rPr>
              <a:t>Advocating for oneself based on understanding learning needs --&gt; improved confidence and proactivity</a:t>
            </a:r>
          </a:p>
          <a:p>
            <a:pPr marL="800100" lvl="1" indent="-342900">
              <a:buFont typeface="Calibri"/>
              <a:buChar char="-"/>
            </a:pPr>
            <a:endParaRPr lang="en-US" sz="2000">
              <a:solidFill>
                <a:srgbClr val="E3E3E3"/>
              </a:solidFill>
              <a:latin typeface="Calibri"/>
              <a:cs typeface="Calibri"/>
            </a:endParaRPr>
          </a:p>
          <a:p>
            <a:pPr marL="800100" lvl="1" indent="-342900">
              <a:buFont typeface="Calibri"/>
              <a:buChar char="-"/>
            </a:pPr>
            <a:endParaRPr lang="en-US" sz="2000">
              <a:solidFill>
                <a:srgbClr val="E3E3E3"/>
              </a:solidFill>
              <a:latin typeface="Calibri"/>
              <a:cs typeface="Calibri"/>
            </a:endParaRPr>
          </a:p>
          <a:p>
            <a:endParaRPr lang="en-US" sz="2000">
              <a:solidFill>
                <a:srgbClr val="E3E3E3"/>
              </a:solidFill>
              <a:latin typeface="Calibri"/>
              <a:cs typeface="Calibri"/>
            </a:endParaRPr>
          </a:p>
          <a:p>
            <a:endParaRPr lang="en-US" sz="2000">
              <a:solidFill>
                <a:srgbClr val="E3E3E3"/>
              </a:solidFill>
              <a:latin typeface="Calibri"/>
              <a:cs typeface="Calibri"/>
            </a:endParaRPr>
          </a:p>
          <a:p>
            <a:endParaRPr lang="en-US" sz="2000">
              <a:solidFill>
                <a:srgbClr val="E3E3E3"/>
              </a:solidFill>
              <a:latin typeface="Calibri"/>
              <a:cs typeface="Calibri"/>
            </a:endParaRPr>
          </a:p>
          <a:p>
            <a:endParaRPr lang="en-US" sz="2000">
              <a:solidFill>
                <a:srgbClr val="E3E3E3"/>
              </a:solidFill>
              <a:latin typeface="Calibri"/>
              <a:cs typeface="Calibri"/>
            </a:endParaRPr>
          </a:p>
          <a:p>
            <a:endParaRPr lang="en-US">
              <a:solidFill>
                <a:srgbClr val="E3E3E3"/>
              </a:solidFill>
              <a:latin typeface="Google Sans"/>
              <a:cs typeface="Calibri"/>
            </a:endParaRPr>
          </a:p>
        </p:txBody>
      </p:sp>
      <p:pic>
        <p:nvPicPr>
          <p:cNvPr id="5" name="Picture 2" descr="A cartoon of a person holding a magnifying glass&#10;&#10;Description automatically generated">
            <a:extLst>
              <a:ext uri="{FF2B5EF4-FFF2-40B4-BE49-F238E27FC236}">
                <a16:creationId xmlns:a16="http://schemas.microsoft.com/office/drawing/2014/main" id="{D1BDAEF1-B547-699E-E35F-E0B95B2EFAEE}"/>
              </a:ext>
            </a:extLst>
          </p:cNvPr>
          <p:cNvPicPr>
            <a:picLocks noChangeAspect="1"/>
          </p:cNvPicPr>
          <p:nvPr/>
        </p:nvPicPr>
        <p:blipFill>
          <a:blip r:embed="rId4"/>
          <a:stretch>
            <a:fillRect/>
          </a:stretch>
        </p:blipFill>
        <p:spPr>
          <a:xfrm>
            <a:off x="10189941" y="851"/>
            <a:ext cx="2011851" cy="2007594"/>
          </a:xfrm>
          <a:prstGeom prst="rect">
            <a:avLst/>
          </a:prstGeom>
        </p:spPr>
      </p:pic>
      <p:sp>
        <p:nvSpPr>
          <p:cNvPr id="4" name="Slide Number Placeholder 13">
            <a:extLst>
              <a:ext uri="{FF2B5EF4-FFF2-40B4-BE49-F238E27FC236}">
                <a16:creationId xmlns:a16="http://schemas.microsoft.com/office/drawing/2014/main" id="{BFDB9407-7997-3AB3-5AE6-7785245B49CE}"/>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rgbClr val="FFFFFF"/>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u="none" strike="noStrike" kern="1200" cap="none" spc="0" normalizeH="0" baseline="0">
              <a:ln>
                <a:noFill/>
              </a:ln>
              <a:solidFill>
                <a:srgbClr val="FFFFFF"/>
              </a:solidFill>
              <a:effectLst/>
              <a:uLnTx/>
              <a:uFillTx/>
            </a:endParaRPr>
          </a:p>
        </p:txBody>
      </p:sp>
    </p:spTree>
    <p:extLst>
      <p:ext uri="{BB962C8B-B14F-4D97-AF65-F5344CB8AC3E}">
        <p14:creationId xmlns:p14="http://schemas.microsoft.com/office/powerpoint/2010/main" val="281938463"/>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186FFF76-7569-AB86-4554-0B3F85CCE14C}"/>
              </a:ext>
            </a:extLst>
          </p:cNvPr>
          <p:cNvSpPr txBox="1">
            <a:spLocks/>
          </p:cNvSpPr>
          <p:nvPr/>
        </p:nvSpPr>
        <p:spPr>
          <a:xfrm>
            <a:off x="1182894" y="788151"/>
            <a:ext cx="6770749" cy="843476"/>
          </a:xfrm>
          <a:prstGeom prst="rect">
            <a:avLst/>
          </a:prstGeom>
        </p:spPr>
        <p:txBody>
          <a:bodyPr lIns="91440" tIns="45720" rIns="91440" bIns="45720" anchor="t"/>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a:ea typeface="Calibri"/>
                <a:cs typeface="Calibri"/>
              </a:rPr>
              <a:t>Ethical Considerations </a:t>
            </a:r>
          </a:p>
        </p:txBody>
      </p:sp>
      <p:sp>
        <p:nvSpPr>
          <p:cNvPr id="4" name="TextBox 3">
            <a:extLst>
              <a:ext uri="{FF2B5EF4-FFF2-40B4-BE49-F238E27FC236}">
                <a16:creationId xmlns:a16="http://schemas.microsoft.com/office/drawing/2014/main" id="{D450A169-C3BC-6279-9FB8-3E3E100E75E7}"/>
              </a:ext>
            </a:extLst>
          </p:cNvPr>
          <p:cNvSpPr txBox="1"/>
          <p:nvPr/>
        </p:nvSpPr>
        <p:spPr>
          <a:xfrm>
            <a:off x="1332216" y="2139109"/>
            <a:ext cx="697035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
              <a:buAutoNum type="arabicPeriod"/>
            </a:pPr>
            <a:r>
              <a:rPr lang="en-US" sz="2400">
                <a:cs typeface="Arial"/>
              </a:rPr>
              <a:t>Accessibility​</a:t>
            </a:r>
            <a:endParaRPr lang="en-US" sz="2400">
              <a:ea typeface="Calibri"/>
              <a:cs typeface="Arial"/>
            </a:endParaRPr>
          </a:p>
          <a:p>
            <a:pPr marL="342900" indent="-342900">
              <a:buAutoNum type="arabicPeriod"/>
            </a:pPr>
            <a:endParaRPr lang="en-US" sz="2400">
              <a:cs typeface="Arial"/>
            </a:endParaRPr>
          </a:p>
          <a:p>
            <a:pPr marL="342900" indent="-342900">
              <a:buFont typeface=""/>
              <a:buAutoNum type="arabicPeriod"/>
            </a:pPr>
            <a:r>
              <a:rPr lang="en-US" sz="2400">
                <a:cs typeface="Arial"/>
              </a:rPr>
              <a:t>Unbiased Data​</a:t>
            </a:r>
            <a:endParaRPr lang="en-US" sz="2400">
              <a:ea typeface="Calibri"/>
              <a:cs typeface="Arial"/>
            </a:endParaRPr>
          </a:p>
          <a:p>
            <a:pPr marL="342900" indent="-342900">
              <a:buAutoNum type="arabicPeriod"/>
            </a:pPr>
            <a:endParaRPr lang="en-US" sz="2400">
              <a:cs typeface="Arial"/>
            </a:endParaRPr>
          </a:p>
        </p:txBody>
      </p:sp>
      <p:pic>
        <p:nvPicPr>
          <p:cNvPr id="6" name="Picture 5" descr="A cartoon of a person holding a magnifying glass&#10;&#10;Description automatically generated">
            <a:extLst>
              <a:ext uri="{FF2B5EF4-FFF2-40B4-BE49-F238E27FC236}">
                <a16:creationId xmlns:a16="http://schemas.microsoft.com/office/drawing/2014/main" id="{0F0FBB37-3FBF-2573-F81E-5F2F11F44521}"/>
              </a:ext>
            </a:extLst>
          </p:cNvPr>
          <p:cNvPicPr>
            <a:picLocks noChangeAspect="1"/>
          </p:cNvPicPr>
          <p:nvPr/>
        </p:nvPicPr>
        <p:blipFill>
          <a:blip r:embed="rId3"/>
          <a:stretch>
            <a:fillRect/>
          </a:stretch>
        </p:blipFill>
        <p:spPr>
          <a:xfrm>
            <a:off x="10189941" y="851"/>
            <a:ext cx="2011851" cy="2007594"/>
          </a:xfrm>
          <a:prstGeom prst="rect">
            <a:avLst/>
          </a:prstGeom>
        </p:spPr>
      </p:pic>
      <p:sp>
        <p:nvSpPr>
          <p:cNvPr id="7" name="TextBox 6">
            <a:extLst>
              <a:ext uri="{FF2B5EF4-FFF2-40B4-BE49-F238E27FC236}">
                <a16:creationId xmlns:a16="http://schemas.microsoft.com/office/drawing/2014/main" id="{C00CE982-4C18-6CD9-979E-FE21BD37D381}"/>
              </a:ext>
            </a:extLst>
          </p:cNvPr>
          <p:cNvSpPr txBox="1"/>
          <p:nvPr/>
        </p:nvSpPr>
        <p:spPr>
          <a:xfrm>
            <a:off x="419272" y="3964412"/>
            <a:ext cx="453518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solidFill>
                  <a:schemeClr val="accent3">
                    <a:lumMod val="60000"/>
                    <a:lumOff val="40000"/>
                  </a:schemeClr>
                </a:solidFill>
                <a:ea typeface="+mn-lt"/>
                <a:cs typeface="+mn-lt"/>
              </a:rPr>
              <a:t>“Give a man fish he eats for a day, teach a man how to fish and he eats for a lifetime” - </a:t>
            </a:r>
            <a:r>
              <a:rPr lang="en-US" sz="2400">
                <a:ea typeface="+mn-lt"/>
                <a:cs typeface="+mn-lt"/>
              </a:rPr>
              <a:t>Prof. Riccio</a:t>
            </a:r>
            <a:endParaRPr lang="en-US">
              <a:ea typeface="Calibri" panose="020F0502020204030204"/>
              <a:cs typeface="Calibri" panose="020F0502020204030204"/>
            </a:endParaRPr>
          </a:p>
        </p:txBody>
      </p:sp>
      <p:sp>
        <p:nvSpPr>
          <p:cNvPr id="9" name="TextBox 8">
            <a:extLst>
              <a:ext uri="{FF2B5EF4-FFF2-40B4-BE49-F238E27FC236}">
                <a16:creationId xmlns:a16="http://schemas.microsoft.com/office/drawing/2014/main" id="{B106CFFC-C1F7-0FD8-3A43-4DA67ACE4A5D}"/>
              </a:ext>
            </a:extLst>
          </p:cNvPr>
          <p:cNvSpPr txBox="1"/>
          <p:nvPr/>
        </p:nvSpPr>
        <p:spPr>
          <a:xfrm>
            <a:off x="2448094" y="1422824"/>
            <a:ext cx="600811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solidFill>
                  <a:schemeClr val="accent1">
                    <a:lumMod val="40000"/>
                    <a:lumOff val="60000"/>
                  </a:schemeClr>
                </a:solidFill>
                <a:ea typeface="Calibri"/>
                <a:cs typeface="Calibri"/>
              </a:rPr>
              <a:t>+ what we've learned this weekend</a:t>
            </a:r>
          </a:p>
        </p:txBody>
      </p:sp>
      <p:sp>
        <p:nvSpPr>
          <p:cNvPr id="12" name="TextBox 11">
            <a:extLst>
              <a:ext uri="{FF2B5EF4-FFF2-40B4-BE49-F238E27FC236}">
                <a16:creationId xmlns:a16="http://schemas.microsoft.com/office/drawing/2014/main" id="{E3B5B13A-BAB2-2D4F-3432-C944F0B64159}"/>
              </a:ext>
            </a:extLst>
          </p:cNvPr>
          <p:cNvSpPr txBox="1"/>
          <p:nvPr/>
        </p:nvSpPr>
        <p:spPr>
          <a:xfrm>
            <a:off x="6587686" y="3578619"/>
            <a:ext cx="5485286"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accent3">
                    <a:lumMod val="60000"/>
                    <a:lumOff val="40000"/>
                  </a:schemeClr>
                </a:solidFill>
                <a:ea typeface="+mn-lt"/>
                <a:cs typeface="+mn-lt"/>
              </a:rPr>
              <a:t>"Give a student a course recommendation and they might have a good semester.</a:t>
            </a:r>
            <a:endParaRPr lang="en-US" sz="2400" u="sng">
              <a:solidFill>
                <a:schemeClr val="accent3">
                  <a:lumMod val="60000"/>
                  <a:lumOff val="40000"/>
                </a:schemeClr>
              </a:solidFill>
              <a:ea typeface="+mn-lt"/>
              <a:cs typeface="+mn-lt"/>
            </a:endParaRPr>
          </a:p>
          <a:p>
            <a:r>
              <a:rPr lang="en-US" sz="2400">
                <a:ea typeface="+mn-lt"/>
                <a:cs typeface="+mn-lt"/>
              </a:rPr>
              <a:t> Help them understand their learning style, and they gain a tool for lifelong success</a:t>
            </a:r>
            <a:r>
              <a:rPr lang="en-US" sz="2400">
                <a:solidFill>
                  <a:schemeClr val="accent3">
                    <a:lumMod val="60000"/>
                    <a:lumOff val="40000"/>
                  </a:schemeClr>
                </a:solidFill>
                <a:ea typeface="+mn-lt"/>
                <a:cs typeface="+mn-lt"/>
              </a:rPr>
              <a:t>"</a:t>
            </a:r>
            <a:endParaRPr lang="en-US" sz="2400">
              <a:solidFill>
                <a:schemeClr val="accent3">
                  <a:lumMod val="60000"/>
                  <a:lumOff val="40000"/>
                </a:schemeClr>
              </a:solidFill>
              <a:ea typeface="Calibri"/>
              <a:cs typeface="Calibri"/>
            </a:endParaRPr>
          </a:p>
        </p:txBody>
      </p:sp>
      <p:sp>
        <p:nvSpPr>
          <p:cNvPr id="13" name="Arrow: Right 12">
            <a:extLst>
              <a:ext uri="{FF2B5EF4-FFF2-40B4-BE49-F238E27FC236}">
                <a16:creationId xmlns:a16="http://schemas.microsoft.com/office/drawing/2014/main" id="{CD8BAAB0-1C40-9919-1196-C8740371F687}"/>
              </a:ext>
            </a:extLst>
          </p:cNvPr>
          <p:cNvSpPr/>
          <p:nvPr/>
        </p:nvSpPr>
        <p:spPr>
          <a:xfrm>
            <a:off x="5098143" y="4336142"/>
            <a:ext cx="1362700" cy="5283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13">
            <a:extLst>
              <a:ext uri="{FF2B5EF4-FFF2-40B4-BE49-F238E27FC236}">
                <a16:creationId xmlns:a16="http://schemas.microsoft.com/office/drawing/2014/main" id="{5430E352-08A5-BE09-2B4C-FAF7A2AB2F3E}"/>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rgbClr val="FFFFFF"/>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altLang="zh-CN" sz="1200" u="none" strike="noStrike" kern="1200" cap="none" spc="0" normalizeH="0" baseline="0">
              <a:ln>
                <a:noFill/>
              </a:ln>
              <a:solidFill>
                <a:srgbClr val="FFFFFF"/>
              </a:solidFill>
              <a:effectLst/>
              <a:uLnTx/>
              <a:uFillTx/>
            </a:endParaRPr>
          </a:p>
        </p:txBody>
      </p:sp>
    </p:spTree>
    <p:extLst>
      <p:ext uri="{BB962C8B-B14F-4D97-AF65-F5344CB8AC3E}">
        <p14:creationId xmlns:p14="http://schemas.microsoft.com/office/powerpoint/2010/main" val="315671517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descr="People in an office discussing work over a laptop&#10;">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rotWithShape="1">
          <a:blip r:embed="rId3" cstate="print">
            <a:extLst>
              <a:ext uri="{28A0092B-C50C-407E-A947-70E740481C1C}">
                <a14:useLocalDpi xmlns:a14="http://schemas.microsoft.com/office/drawing/2010/main"/>
              </a:ext>
            </a:extLst>
          </a:blip>
          <a:srcRect l="34" r="34"/>
          <a:stretch/>
        </p:blipFill>
        <p:spPr/>
      </p:pic>
      <p:pic>
        <p:nvPicPr>
          <p:cNvPr id="14" name="Picture Placeholder 13" descr="People working in office">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rotWithShape="1">
          <a:blip r:embed="rId4" cstate="print">
            <a:extLst>
              <a:ext uri="{28A0092B-C50C-407E-A947-70E740481C1C}">
                <a14:useLocalDpi xmlns:a14="http://schemas.microsoft.com/office/drawing/2010/main"/>
              </a:ext>
            </a:extLst>
          </a:blip>
          <a:srcRect l="34" r="34"/>
          <a:stretch/>
        </p:blipFill>
        <p:spPr/>
      </p:pic>
      <p:pic>
        <p:nvPicPr>
          <p:cNvPr id="28" name="Picture Placeholder 27" descr="Businesswoman reviewing sticky notes on a wall">
            <a:extLst>
              <a:ext uri="{FF2B5EF4-FFF2-40B4-BE49-F238E27FC236}">
                <a16:creationId xmlns:a16="http://schemas.microsoft.com/office/drawing/2014/main" id="{B746A775-E65C-70F6-9DB4-E51F7F2DAECE}"/>
              </a:ext>
            </a:extLst>
          </p:cNvPr>
          <p:cNvPicPr>
            <a:picLocks noGrp="1" noChangeAspect="1"/>
          </p:cNvPicPr>
          <p:nvPr>
            <p:ph type="pic" sz="quarter" idx="50"/>
          </p:nvPr>
        </p:nvPicPr>
        <p:blipFill>
          <a:blip r:embed="rId5" cstate="print">
            <a:extLst>
              <a:ext uri="{28A0092B-C50C-407E-A947-70E740481C1C}">
                <a14:useLocalDpi xmlns:a14="http://schemas.microsoft.com/office/drawing/2010/main"/>
              </a:ext>
            </a:extLst>
          </a:blip>
          <a:srcRect l="88" r="88"/>
          <a:stretch/>
        </p:blipFill>
        <p:spPr/>
      </p:pic>
      <p:pic>
        <p:nvPicPr>
          <p:cNvPr id="18" name="Picture Placeholder 17" descr="Layout of website design sketches on white paper">
            <a:extLst>
              <a:ext uri="{FF2B5EF4-FFF2-40B4-BE49-F238E27FC236}">
                <a16:creationId xmlns:a16="http://schemas.microsoft.com/office/drawing/2014/main" id="{1051CD21-1408-4D13-BF0B-0D7013AD2D0C}"/>
              </a:ext>
            </a:extLst>
          </p:cNvPr>
          <p:cNvPicPr>
            <a:picLocks noGrp="1" noChangeAspect="1"/>
          </p:cNvPicPr>
          <p:nvPr>
            <p:ph type="pic" sz="quarter" idx="51"/>
          </p:nvPr>
        </p:nvPicPr>
        <p:blipFill rotWithShape="1">
          <a:blip r:embed="rId6" cstate="print">
            <a:extLst>
              <a:ext uri="{28A0092B-C50C-407E-A947-70E740481C1C}">
                <a14:useLocalDpi xmlns:a14="http://schemas.microsoft.com/office/drawing/2010/main"/>
              </a:ext>
            </a:extLst>
          </a:blip>
          <a:srcRect l="34" r="34"/>
          <a:stretch/>
        </p:blipFill>
        <p:spPr/>
      </p:pic>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p:txBody>
          <a:bodyPr/>
          <a:lstStyle/>
          <a:p>
            <a:r>
              <a:rPr lang="en-US"/>
              <a:t>Questions?</a:t>
            </a:r>
          </a:p>
        </p:txBody>
      </p:sp>
      <p:pic>
        <p:nvPicPr>
          <p:cNvPr id="3" name="Picture 2" descr="A cartoon of a person holding a magnifying glass&#10;&#10;Description automatically generated">
            <a:extLst>
              <a:ext uri="{FF2B5EF4-FFF2-40B4-BE49-F238E27FC236}">
                <a16:creationId xmlns:a16="http://schemas.microsoft.com/office/drawing/2014/main" id="{5F61503A-A31F-E546-6B95-7C4ABF8CD7E0}"/>
              </a:ext>
            </a:extLst>
          </p:cNvPr>
          <p:cNvPicPr>
            <a:picLocks noChangeAspect="1"/>
          </p:cNvPicPr>
          <p:nvPr/>
        </p:nvPicPr>
        <p:blipFill>
          <a:blip r:embed="rId7"/>
          <a:stretch>
            <a:fillRect/>
          </a:stretch>
        </p:blipFill>
        <p:spPr>
          <a:xfrm>
            <a:off x="10189941" y="851"/>
            <a:ext cx="2011851" cy="2007594"/>
          </a:xfrm>
          <a:prstGeom prst="rect">
            <a:avLst/>
          </a:prstGeom>
        </p:spPr>
      </p:pic>
      <p:sp>
        <p:nvSpPr>
          <p:cNvPr id="4" name="Slide Number Placeholder 13">
            <a:extLst>
              <a:ext uri="{FF2B5EF4-FFF2-40B4-BE49-F238E27FC236}">
                <a16:creationId xmlns:a16="http://schemas.microsoft.com/office/drawing/2014/main" id="{246E4E6D-7282-7A93-7679-C856D51D3CDD}"/>
              </a:ext>
            </a:extLst>
          </p:cNvPr>
          <p:cNvSpPr txBox="1">
            <a:spLocks/>
          </p:cNvSpPr>
          <p:nvPr/>
        </p:nvSpPr>
        <p:spPr>
          <a:xfrm>
            <a:off x="11194169" y="6215665"/>
            <a:ext cx="458592" cy="365125"/>
          </a:xfrm>
          <a:prstGeom prst="rect">
            <a:avLst/>
          </a:prstGeom>
        </p:spPr>
        <p:txBody>
          <a:bodyPr lIns="91440" tIns="45720" rIns="91440" bIns="45720"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dirty="0" smtClean="0">
                <a:ln>
                  <a:noFill/>
                </a:ln>
                <a:effectLst/>
                <a:uLnTx/>
                <a:uFillTx/>
                <a:latin typeface="Abadi"/>
                <a:ea typeface="宋体"/>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altLang="zh-CN" sz="1200" u="none" strike="noStrike" kern="1200" cap="none" spc="0" normalizeH="0" baseline="0">
              <a:ln>
                <a:noFill/>
              </a:ln>
              <a:effectLst/>
              <a:uLnTx/>
              <a:uFillTx/>
              <a:latin typeface="Abadi"/>
              <a:ea typeface="宋体"/>
            </a:endParaRPr>
          </a:p>
        </p:txBody>
      </p:sp>
    </p:spTree>
    <p:extLst>
      <p:ext uri="{BB962C8B-B14F-4D97-AF65-F5344CB8AC3E}">
        <p14:creationId xmlns:p14="http://schemas.microsoft.com/office/powerpoint/2010/main" val="529279411"/>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DE77570E-71D6-4005-B631-1B00A1197B6E}">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3.xml><?xml version="1.0" encoding="utf-8"?>
<ds:datastoreItem xmlns:ds="http://schemas.openxmlformats.org/officeDocument/2006/customXml" ds:itemID="{C8DB3C62-858A-4A01-AFEF-21E0BB8CE262}">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宽屏</PresentationFormat>
  <Slides>14</Slides>
  <Notes>13</Notes>
  <HiddenSlides>0</HiddenSlides>
  <ScaleCrop>false</ScaleCrop>
  <HeadingPairs>
    <vt:vector size="4" baseType="variant">
      <vt:variant>
        <vt:lpstr>主题</vt:lpstr>
      </vt:variant>
      <vt:variant>
        <vt:i4>1</vt:i4>
      </vt:variant>
      <vt:variant>
        <vt:lpstr>幻灯片标题</vt:lpstr>
      </vt:variant>
      <vt:variant>
        <vt:i4>14</vt:i4>
      </vt:variant>
    </vt:vector>
  </HeadingPairs>
  <TitlesOfParts>
    <vt:vector size="15" baseType="lpstr">
      <vt:lpstr>Celestial</vt:lpstr>
      <vt:lpstr>EduConnect</vt:lpstr>
      <vt:lpstr>Agenda</vt:lpstr>
      <vt:lpstr>Background</vt:lpstr>
      <vt:lpstr>PowerPoint 演示文稿</vt:lpstr>
      <vt:lpstr>Our solution focuses on saving time and resources in academic planning and student management.    </vt:lpstr>
      <vt:lpstr>Proof of concept</vt:lpstr>
      <vt:lpstr>Utilizing LLMs and webscraped data to determine compatibility</vt:lpstr>
      <vt:lpstr>Our business plan</vt:lpstr>
      <vt:lpstr>Potential Areas of growth</vt:lpstr>
      <vt:lpstr>DEMO AND FUNCtIONALITY</vt:lpstr>
      <vt:lpstr>PowerPoint 演示文稿</vt:lpstr>
      <vt:lpstr>PowerPoint 演示文稿</vt:lpstr>
      <vt:lpstr>PowerPoint 演示文稿</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
  <cp:revision>2</cp:revision>
  <dcterms:created xsi:type="dcterms:W3CDTF">2024-03-30T23:43:27Z</dcterms:created>
  <dcterms:modified xsi:type="dcterms:W3CDTF">2024-04-04T23:36:04Z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